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4254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4254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4254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892564"/>
            <a:ext cx="12192000" cy="106831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2967228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4254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4254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2000" cy="99364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2192000" cy="923925"/>
          </a:xfrm>
          <a:custGeom>
            <a:avLst/>
            <a:gdLst/>
            <a:ahLst/>
            <a:cxnLst/>
            <a:rect l="l" t="t" r="r" b="b"/>
            <a:pathLst>
              <a:path w="12192000" h="923925">
                <a:moveTo>
                  <a:pt x="12192000" y="0"/>
                </a:moveTo>
                <a:lnTo>
                  <a:pt x="0" y="0"/>
                </a:lnTo>
                <a:lnTo>
                  <a:pt x="0" y="923544"/>
                </a:lnTo>
                <a:lnTo>
                  <a:pt x="12192000" y="923544"/>
                </a:lnTo>
                <a:lnTo>
                  <a:pt x="12192000" y="0"/>
                </a:lnTo>
                <a:close/>
              </a:path>
            </a:pathLst>
          </a:custGeom>
          <a:solidFill>
            <a:srgbClr val="E76E5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3500"/>
            <a:ext cx="5417820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bg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8060" y="1213866"/>
            <a:ext cx="10868025" cy="2583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1044173" y="6444131"/>
            <a:ext cx="264159" cy="1987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Franklin Gothic Medium"/>
                <a:cs typeface="Franklin Gothic Medium"/>
              </a:defRPr>
            </a:lvl1pPr>
          </a:lstStyle>
          <a:p>
            <a:pPr marL="42545">
              <a:lnSpc>
                <a:spcPct val="10000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031617"/>
            <a:ext cx="541782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Strings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 spc="-25"/>
              <a:t>Languages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ct val="100000"/>
              </a:lnSpc>
            </a:pPr>
            <a:r>
              <a:rPr dirty="0" spc="-25"/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Strings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 spc="-25"/>
              <a:t>Languages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An</a:t>
            </a:r>
            <a:r>
              <a:rPr dirty="0" spc="-120"/>
              <a:t> </a:t>
            </a:r>
            <a:r>
              <a:rPr dirty="0" spc="-20">
                <a:solidFill>
                  <a:srgbClr val="C00000"/>
                </a:solidFill>
              </a:rPr>
              <a:t>alphabet</a:t>
            </a:r>
            <a:r>
              <a:rPr dirty="0" spc="-105">
                <a:solidFill>
                  <a:srgbClr val="C00000"/>
                </a:solidFill>
              </a:rPr>
              <a:t> </a:t>
            </a:r>
            <a:r>
              <a:rPr dirty="0"/>
              <a:t>is</a:t>
            </a:r>
            <a:r>
              <a:rPr dirty="0" spc="-114"/>
              <a:t> </a:t>
            </a:r>
            <a:r>
              <a:rPr dirty="0" spc="-20"/>
              <a:t>any</a:t>
            </a:r>
            <a:r>
              <a:rPr dirty="0" spc="-110"/>
              <a:t> </a:t>
            </a:r>
            <a:r>
              <a:rPr dirty="0" spc="-10"/>
              <a:t>non-</a:t>
            </a:r>
            <a:r>
              <a:rPr dirty="0" spc="-55"/>
              <a:t>empty</a:t>
            </a:r>
            <a:r>
              <a:rPr dirty="0" spc="-105"/>
              <a:t> </a:t>
            </a:r>
            <a:r>
              <a:rPr dirty="0" u="sng" spc="-25">
                <a:uFill>
                  <a:solidFill>
                    <a:srgbClr val="000000"/>
                  </a:solidFill>
                </a:uFill>
              </a:rPr>
              <a:t>finite</a:t>
            </a:r>
            <a:r>
              <a:rPr dirty="0" spc="-100"/>
              <a:t> </a:t>
            </a:r>
            <a:r>
              <a:rPr dirty="0">
                <a:solidFill>
                  <a:srgbClr val="2D75B6"/>
                </a:solidFill>
              </a:rPr>
              <a:t>set</a:t>
            </a:r>
            <a:r>
              <a:rPr dirty="0"/>
              <a:t>,</a:t>
            </a:r>
            <a:r>
              <a:rPr dirty="0" spc="-110"/>
              <a:t> </a:t>
            </a:r>
            <a:r>
              <a:rPr dirty="0"/>
              <a:t>whose</a:t>
            </a:r>
            <a:r>
              <a:rPr dirty="0" spc="-110"/>
              <a:t> </a:t>
            </a:r>
            <a:r>
              <a:rPr dirty="0" spc="-25"/>
              <a:t>elements</a:t>
            </a:r>
            <a:r>
              <a:rPr dirty="0" spc="-90"/>
              <a:t> </a:t>
            </a:r>
            <a:r>
              <a:rPr dirty="0"/>
              <a:t>we</a:t>
            </a:r>
            <a:r>
              <a:rPr dirty="0" spc="-110"/>
              <a:t> </a:t>
            </a:r>
            <a:r>
              <a:rPr dirty="0"/>
              <a:t>call</a:t>
            </a:r>
            <a:r>
              <a:rPr dirty="0" spc="-120"/>
              <a:t> </a:t>
            </a:r>
            <a:r>
              <a:rPr dirty="0" spc="-10"/>
              <a:t>symbols </a:t>
            </a:r>
            <a:r>
              <a:rPr dirty="0"/>
              <a:t>or</a:t>
            </a:r>
            <a:r>
              <a:rPr dirty="0" spc="-50"/>
              <a:t> </a:t>
            </a:r>
            <a:r>
              <a:rPr dirty="0" spc="-10"/>
              <a:t>characters.</a:t>
            </a:r>
          </a:p>
          <a:p>
            <a:pPr marL="3023235">
              <a:lnSpc>
                <a:spcPct val="100000"/>
              </a:lnSpc>
              <a:spcBef>
                <a:spcPts val="475"/>
              </a:spcBef>
              <a:tabLst>
                <a:tab pos="3551554" algn="l"/>
              </a:tabLst>
            </a:pPr>
            <a:r>
              <a:rPr dirty="0" baseline="-4166" sz="6000" spc="-75">
                <a:solidFill>
                  <a:srgbClr val="C00000"/>
                </a:solidFill>
                <a:latin typeface="Cambria Math"/>
                <a:cs typeface="Cambria Math"/>
              </a:rPr>
              <a:t>Σ</a:t>
            </a:r>
            <a:r>
              <a:rPr dirty="0" baseline="-4166" sz="60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3200"/>
              <a:t>=</a:t>
            </a:r>
            <a:r>
              <a:rPr dirty="0" sz="3200" spc="-70"/>
              <a:t> </a:t>
            </a:r>
            <a:r>
              <a:rPr dirty="0" sz="3200" spc="-40"/>
              <a:t>Alphabet</a:t>
            </a:r>
            <a:r>
              <a:rPr dirty="0" sz="3200" spc="-75"/>
              <a:t> </a:t>
            </a:r>
            <a:r>
              <a:rPr dirty="0" sz="3200"/>
              <a:t>=</a:t>
            </a:r>
            <a:r>
              <a:rPr dirty="0" sz="3200" spc="-65"/>
              <a:t> </a:t>
            </a:r>
            <a:r>
              <a:rPr dirty="0" sz="3200">
                <a:solidFill>
                  <a:srgbClr val="2D75B6"/>
                </a:solidFill>
              </a:rPr>
              <a:t>Set</a:t>
            </a:r>
            <a:r>
              <a:rPr dirty="0" sz="3200" spc="-80">
                <a:solidFill>
                  <a:srgbClr val="2D75B6"/>
                </a:solidFill>
              </a:rPr>
              <a:t> </a:t>
            </a:r>
            <a:r>
              <a:rPr dirty="0" sz="3200"/>
              <a:t>of</a:t>
            </a:r>
            <a:r>
              <a:rPr dirty="0" sz="3200" spc="-65"/>
              <a:t> </a:t>
            </a:r>
            <a:r>
              <a:rPr dirty="0" sz="3200" spc="-10"/>
              <a:t>symbols</a:t>
            </a:r>
            <a:endParaRPr sz="3200">
              <a:latin typeface="Cambria Math"/>
              <a:cs typeface="Cambria Math"/>
            </a:endParaRPr>
          </a:p>
          <a:p>
            <a:pPr marL="3037205">
              <a:lnSpc>
                <a:spcPct val="100000"/>
              </a:lnSpc>
              <a:spcBef>
                <a:spcPts val="2805"/>
              </a:spcBef>
            </a:pPr>
            <a:r>
              <a:rPr dirty="0" sz="4000">
                <a:solidFill>
                  <a:srgbClr val="C00000"/>
                </a:solidFill>
                <a:latin typeface="Cambria Math"/>
                <a:cs typeface="Cambria Math"/>
              </a:rPr>
              <a:t>Σ</a:t>
            </a:r>
            <a:r>
              <a:rPr dirty="0" sz="4000" spc="24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4000">
                <a:latin typeface="Cambria Math"/>
                <a:cs typeface="Cambria Math"/>
              </a:rPr>
              <a:t>=</a:t>
            </a:r>
            <a:r>
              <a:rPr dirty="0" sz="4000" spc="260">
                <a:latin typeface="Cambria Math"/>
                <a:cs typeface="Cambria Math"/>
              </a:rPr>
              <a:t> </a:t>
            </a:r>
            <a:r>
              <a:rPr dirty="0" sz="4000">
                <a:latin typeface="Cambria Math"/>
                <a:cs typeface="Cambria Math"/>
              </a:rPr>
              <a:t>{</a:t>
            </a:r>
            <a:r>
              <a:rPr dirty="0" sz="4000">
                <a:solidFill>
                  <a:srgbClr val="2D75B6"/>
                </a:solidFill>
                <a:latin typeface="Cambria Math"/>
                <a:cs typeface="Cambria Math"/>
              </a:rPr>
              <a:t>𝑎,</a:t>
            </a:r>
            <a:r>
              <a:rPr dirty="0" sz="4000" spc="-19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4000">
                <a:solidFill>
                  <a:srgbClr val="2D75B6"/>
                </a:solidFill>
                <a:latin typeface="Cambria Math"/>
                <a:cs typeface="Cambria Math"/>
              </a:rPr>
              <a:t>𝑏,</a:t>
            </a:r>
            <a:r>
              <a:rPr dirty="0" sz="4000" spc="-204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4000" spc="60">
                <a:solidFill>
                  <a:srgbClr val="2D75B6"/>
                </a:solidFill>
                <a:latin typeface="Cambria Math"/>
                <a:cs typeface="Cambria Math"/>
              </a:rPr>
              <a:t>𝑐,</a:t>
            </a:r>
            <a:r>
              <a:rPr dirty="0" sz="4000" spc="-20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4000" spc="30">
                <a:solidFill>
                  <a:srgbClr val="2D75B6"/>
                </a:solidFill>
                <a:latin typeface="Cambria Math"/>
                <a:cs typeface="Cambria Math"/>
              </a:rPr>
              <a:t>𝑑</a:t>
            </a:r>
            <a:r>
              <a:rPr dirty="0" sz="4000" spc="30">
                <a:latin typeface="Cambria Math"/>
                <a:cs typeface="Cambria Math"/>
              </a:rPr>
              <a:t>}</a:t>
            </a:r>
            <a:endParaRPr sz="40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689347" y="3910584"/>
            <a:ext cx="1788160" cy="155575"/>
          </a:xfrm>
          <a:custGeom>
            <a:avLst/>
            <a:gdLst/>
            <a:ahLst/>
            <a:cxnLst/>
            <a:rect l="l" t="t" r="r" b="b"/>
            <a:pathLst>
              <a:path w="1788160" h="155575">
                <a:moveTo>
                  <a:pt x="1787652" y="0"/>
                </a:moveTo>
                <a:lnTo>
                  <a:pt x="1786628" y="30253"/>
                </a:lnTo>
                <a:lnTo>
                  <a:pt x="1783841" y="54959"/>
                </a:lnTo>
                <a:lnTo>
                  <a:pt x="1779722" y="71616"/>
                </a:lnTo>
                <a:lnTo>
                  <a:pt x="1774698" y="77724"/>
                </a:lnTo>
                <a:lnTo>
                  <a:pt x="906779" y="77724"/>
                </a:lnTo>
                <a:lnTo>
                  <a:pt x="901755" y="83831"/>
                </a:lnTo>
                <a:lnTo>
                  <a:pt x="897636" y="100488"/>
                </a:lnTo>
                <a:lnTo>
                  <a:pt x="894849" y="125194"/>
                </a:lnTo>
                <a:lnTo>
                  <a:pt x="893826" y="155448"/>
                </a:lnTo>
                <a:lnTo>
                  <a:pt x="892802" y="125194"/>
                </a:lnTo>
                <a:lnTo>
                  <a:pt x="890015" y="100488"/>
                </a:lnTo>
                <a:lnTo>
                  <a:pt x="885896" y="83831"/>
                </a:lnTo>
                <a:lnTo>
                  <a:pt x="880872" y="77724"/>
                </a:lnTo>
                <a:lnTo>
                  <a:pt x="12953" y="77724"/>
                </a:lnTo>
                <a:lnTo>
                  <a:pt x="7929" y="71616"/>
                </a:lnTo>
                <a:lnTo>
                  <a:pt x="3810" y="54959"/>
                </a:lnTo>
                <a:lnTo>
                  <a:pt x="1023" y="30253"/>
                </a:lnTo>
                <a:lnTo>
                  <a:pt x="0" y="0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582411" y="4066032"/>
            <a:ext cx="2197735" cy="3708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Elements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are</a:t>
            </a:r>
            <a:r>
              <a:rPr dirty="0" sz="1800" spc="-7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unique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ct val="100000"/>
              </a:lnSpc>
            </a:pPr>
            <a:r>
              <a:rPr dirty="0" spc="-25"/>
              <a:t>13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88060" y="4614798"/>
            <a:ext cx="8131809" cy="1202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>
                <a:solidFill>
                  <a:srgbClr val="6F2F9F"/>
                </a:solidFill>
                <a:latin typeface="Franklin Gothic Medium"/>
                <a:cs typeface="Franklin Gothic Medium"/>
              </a:rPr>
              <a:t>String</a:t>
            </a:r>
            <a:r>
              <a:rPr dirty="0" sz="2800" spc="-165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=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u="sng" sz="2800" spc="-25">
                <a:uFill>
                  <a:solidFill>
                    <a:srgbClr val="000000"/>
                  </a:solidFill>
                </a:uFill>
                <a:latin typeface="Franklin Gothic Medium"/>
                <a:cs typeface="Franklin Gothic Medium"/>
              </a:rPr>
              <a:t>finite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sequence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symbols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alphabet</a:t>
            </a:r>
            <a:endParaRPr sz="2800">
              <a:latin typeface="Franklin Gothic Medium"/>
              <a:cs typeface="Franklin Gothic Medium"/>
            </a:endParaRPr>
          </a:p>
          <a:p>
            <a:pPr marL="323215">
              <a:lnSpc>
                <a:spcPct val="100000"/>
              </a:lnSpc>
              <a:spcBef>
                <a:spcPts val="2550"/>
              </a:spcBef>
              <a:tabLst>
                <a:tab pos="6395720" algn="l"/>
              </a:tabLst>
            </a:pPr>
            <a:r>
              <a:rPr dirty="0" sz="2800" spc="-30">
                <a:latin typeface="Franklin Gothic Medium"/>
                <a:cs typeface="Franklin Gothic Medium"/>
              </a:rPr>
              <a:t>Example: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string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over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Σ</a:t>
            </a:r>
            <a:r>
              <a:rPr dirty="0" sz="2800" spc="1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𝑎,</a:t>
            </a:r>
            <a:r>
              <a:rPr dirty="0" sz="2800" spc="-15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𝑏,</a:t>
            </a:r>
            <a:r>
              <a:rPr dirty="0" sz="2800" spc="-15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𝑐,</a:t>
            </a:r>
            <a:r>
              <a:rPr dirty="0" sz="2800" spc="-16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𝑑</a:t>
            </a:r>
            <a:r>
              <a:rPr dirty="0" sz="2800" spc="-25">
                <a:latin typeface="Cambria Math"/>
                <a:cs typeface="Cambria Math"/>
              </a:rPr>
              <a:t>}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10">
                <a:solidFill>
                  <a:srgbClr val="6F2F9F"/>
                </a:solidFill>
                <a:latin typeface="Cambria Math"/>
                <a:cs typeface="Cambria Math"/>
              </a:rPr>
              <a:t>𝑎𝑐𝑐𝑎𝑏𝑎𝑑𝑑𝑎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Strings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 spc="-25"/>
              <a:t>Languages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2885058" y="5476747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69" h="323214">
                <a:moveTo>
                  <a:pt x="26670" y="0"/>
                </a:moveTo>
                <a:lnTo>
                  <a:pt x="0" y="0"/>
                </a:lnTo>
                <a:lnTo>
                  <a:pt x="0" y="322630"/>
                </a:lnTo>
                <a:lnTo>
                  <a:pt x="26670" y="322630"/>
                </a:lnTo>
                <a:lnTo>
                  <a:pt x="26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499486" y="5476747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69" h="323214">
                <a:moveTo>
                  <a:pt x="26669" y="0"/>
                </a:moveTo>
                <a:lnTo>
                  <a:pt x="0" y="0"/>
                </a:lnTo>
                <a:lnTo>
                  <a:pt x="0" y="322630"/>
                </a:lnTo>
                <a:lnTo>
                  <a:pt x="26669" y="322630"/>
                </a:lnTo>
                <a:lnTo>
                  <a:pt x="266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8060" y="5961684"/>
            <a:ext cx="38652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Empty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6F2F9F"/>
                </a:solidFill>
                <a:latin typeface="Franklin Gothic Medium"/>
                <a:cs typeface="Franklin Gothic Medium"/>
              </a:rPr>
              <a:t>string</a:t>
            </a:r>
            <a:r>
              <a:rPr dirty="0" sz="2800" spc="-90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=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3600">
                <a:latin typeface="Cambria Math"/>
                <a:cs typeface="Cambria Math"/>
              </a:rPr>
              <a:t>𝜀</a:t>
            </a:r>
            <a:r>
              <a:rPr dirty="0" sz="3600" spc="-60">
                <a:latin typeface="Cambria Math"/>
                <a:cs typeface="Cambria Math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(epsilon)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465953" y="6153315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70" h="323214">
                <a:moveTo>
                  <a:pt x="26670" y="0"/>
                </a:moveTo>
                <a:lnTo>
                  <a:pt x="0" y="0"/>
                </a:lnTo>
                <a:lnTo>
                  <a:pt x="0" y="322668"/>
                </a:lnTo>
                <a:lnTo>
                  <a:pt x="26670" y="322668"/>
                </a:lnTo>
                <a:lnTo>
                  <a:pt x="26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180965" y="6153315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70" h="323214">
                <a:moveTo>
                  <a:pt x="26670" y="0"/>
                </a:moveTo>
                <a:lnTo>
                  <a:pt x="0" y="0"/>
                </a:lnTo>
                <a:lnTo>
                  <a:pt x="0" y="322668"/>
                </a:lnTo>
                <a:lnTo>
                  <a:pt x="26670" y="322668"/>
                </a:lnTo>
                <a:lnTo>
                  <a:pt x="26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238750" y="6050076"/>
            <a:ext cx="96964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96875" algn="l"/>
              </a:tabLst>
            </a:pPr>
            <a:r>
              <a:rPr dirty="0" sz="2800" spc="-50">
                <a:latin typeface="Cambria Math"/>
                <a:cs typeface="Cambria Math"/>
              </a:rPr>
              <a:t>𝜀</a:t>
            </a:r>
            <a:r>
              <a:rPr dirty="0" sz="2800">
                <a:latin typeface="Cambria Math"/>
                <a:cs typeface="Cambria Math"/>
              </a:rPr>
              <a:t>	=</a:t>
            </a:r>
            <a:r>
              <a:rPr dirty="0" sz="2800" spc="14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0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449189" y="5476747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70" h="323214">
                <a:moveTo>
                  <a:pt x="26670" y="0"/>
                </a:moveTo>
                <a:lnTo>
                  <a:pt x="0" y="0"/>
                </a:lnTo>
                <a:lnTo>
                  <a:pt x="0" y="322630"/>
                </a:lnTo>
                <a:lnTo>
                  <a:pt x="26670" y="322630"/>
                </a:lnTo>
                <a:lnTo>
                  <a:pt x="26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3603625" y="5476747"/>
            <a:ext cx="26670" cy="323215"/>
          </a:xfrm>
          <a:custGeom>
            <a:avLst/>
            <a:gdLst/>
            <a:ahLst/>
            <a:cxnLst/>
            <a:rect l="l" t="t" r="r" b="b"/>
            <a:pathLst>
              <a:path w="26670" h="323214">
                <a:moveTo>
                  <a:pt x="26670" y="0"/>
                </a:moveTo>
                <a:lnTo>
                  <a:pt x="0" y="0"/>
                </a:lnTo>
                <a:lnTo>
                  <a:pt x="0" y="322630"/>
                </a:lnTo>
                <a:lnTo>
                  <a:pt x="26670" y="322630"/>
                </a:lnTo>
                <a:lnTo>
                  <a:pt x="266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588060" y="1213866"/>
            <a:ext cx="10868025" cy="4611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spc="-30">
                <a:latin typeface="Franklin Gothic Medium"/>
                <a:cs typeface="Franklin Gothic Medium"/>
              </a:rPr>
              <a:t>An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C00000"/>
                </a:solidFill>
                <a:latin typeface="Franklin Gothic Medium"/>
                <a:cs typeface="Franklin Gothic Medium"/>
              </a:rPr>
              <a:t>alphabet</a:t>
            </a:r>
            <a:r>
              <a:rPr dirty="0" sz="2800" spc="-100">
                <a:solidFill>
                  <a:srgbClr val="C00000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any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non-</a:t>
            </a:r>
            <a:r>
              <a:rPr dirty="0" sz="2800" spc="-60">
                <a:latin typeface="Franklin Gothic Medium"/>
                <a:cs typeface="Franklin Gothic Medium"/>
              </a:rPr>
              <a:t>empty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finite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2D75B6"/>
                </a:solidFill>
                <a:latin typeface="Franklin Gothic Medium"/>
                <a:cs typeface="Franklin Gothic Medium"/>
              </a:rPr>
              <a:t>set</a:t>
            </a:r>
            <a:r>
              <a:rPr dirty="0" sz="2800">
                <a:latin typeface="Franklin Gothic Medium"/>
                <a:cs typeface="Franklin Gothic Medium"/>
              </a:rPr>
              <a:t>,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whose</a:t>
            </a:r>
            <a:r>
              <a:rPr dirty="0" sz="2800" spc="-114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elements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we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call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symbols </a:t>
            </a:r>
            <a:r>
              <a:rPr dirty="0" sz="2800">
                <a:latin typeface="Franklin Gothic Medium"/>
                <a:cs typeface="Franklin Gothic Medium"/>
              </a:rPr>
              <a:t>or</a:t>
            </a:r>
            <a:r>
              <a:rPr dirty="0" sz="2800" spc="-5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characters.</a:t>
            </a:r>
            <a:endParaRPr sz="2800">
              <a:latin typeface="Franklin Gothic Medium"/>
              <a:cs typeface="Franklin Gothic Medium"/>
            </a:endParaRPr>
          </a:p>
          <a:p>
            <a:pPr algn="ctr" marL="508634">
              <a:lnSpc>
                <a:spcPct val="100000"/>
              </a:lnSpc>
              <a:spcBef>
                <a:spcPts val="475"/>
              </a:spcBef>
              <a:tabLst>
                <a:tab pos="1036319" algn="l"/>
              </a:tabLst>
            </a:pPr>
            <a:r>
              <a:rPr dirty="0" baseline="-4166" sz="6000" spc="-75">
                <a:solidFill>
                  <a:srgbClr val="C00000"/>
                </a:solidFill>
                <a:latin typeface="Cambria Math"/>
                <a:cs typeface="Cambria Math"/>
              </a:rPr>
              <a:t>Σ</a:t>
            </a:r>
            <a:r>
              <a:rPr dirty="0" baseline="-4166" sz="60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3200">
                <a:latin typeface="Franklin Gothic Medium"/>
                <a:cs typeface="Franklin Gothic Medium"/>
              </a:rPr>
              <a:t>=</a:t>
            </a:r>
            <a:r>
              <a:rPr dirty="0" sz="3200" spc="-70">
                <a:latin typeface="Franklin Gothic Medium"/>
                <a:cs typeface="Franklin Gothic Medium"/>
              </a:rPr>
              <a:t> </a:t>
            </a:r>
            <a:r>
              <a:rPr dirty="0" sz="3200" spc="-40">
                <a:latin typeface="Franklin Gothic Medium"/>
                <a:cs typeface="Franklin Gothic Medium"/>
              </a:rPr>
              <a:t>Alphabet</a:t>
            </a:r>
            <a:r>
              <a:rPr dirty="0" sz="3200" spc="-75"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=</a:t>
            </a:r>
            <a:r>
              <a:rPr dirty="0" sz="3200" spc="-65">
                <a:latin typeface="Franklin Gothic Medium"/>
                <a:cs typeface="Franklin Gothic Medium"/>
              </a:rPr>
              <a:t> </a:t>
            </a:r>
            <a:r>
              <a:rPr dirty="0" sz="3200">
                <a:solidFill>
                  <a:srgbClr val="2D75B6"/>
                </a:solidFill>
                <a:latin typeface="Franklin Gothic Medium"/>
                <a:cs typeface="Franklin Gothic Medium"/>
              </a:rPr>
              <a:t>Set</a:t>
            </a:r>
            <a:r>
              <a:rPr dirty="0" sz="3200" spc="-80">
                <a:solidFill>
                  <a:srgbClr val="2D75B6"/>
                </a:solidFill>
                <a:latin typeface="Franklin Gothic Medium"/>
                <a:cs typeface="Franklin Gothic Medium"/>
              </a:rPr>
              <a:t> </a:t>
            </a:r>
            <a:r>
              <a:rPr dirty="0" sz="3200">
                <a:latin typeface="Franklin Gothic Medium"/>
                <a:cs typeface="Franklin Gothic Medium"/>
              </a:rPr>
              <a:t>of</a:t>
            </a:r>
            <a:r>
              <a:rPr dirty="0" sz="3200" spc="-65">
                <a:latin typeface="Franklin Gothic Medium"/>
                <a:cs typeface="Franklin Gothic Medium"/>
              </a:rPr>
              <a:t> </a:t>
            </a:r>
            <a:r>
              <a:rPr dirty="0" sz="3200" spc="-10">
                <a:latin typeface="Franklin Gothic Medium"/>
                <a:cs typeface="Franklin Gothic Medium"/>
              </a:rPr>
              <a:t>symbols</a:t>
            </a:r>
            <a:endParaRPr sz="3200">
              <a:latin typeface="Franklin Gothic Medium"/>
              <a:cs typeface="Franklin Gothic Medium"/>
            </a:endParaRPr>
          </a:p>
          <a:p>
            <a:pPr marL="323215" marR="2001520" indent="-311150">
              <a:lnSpc>
                <a:spcPct val="175900"/>
              </a:lnSpc>
              <a:spcBef>
                <a:spcPts val="480"/>
              </a:spcBef>
              <a:tabLst>
                <a:tab pos="6400165" algn="l"/>
              </a:tabLst>
            </a:pPr>
            <a:r>
              <a:rPr dirty="0" sz="2800" spc="-20">
                <a:solidFill>
                  <a:srgbClr val="6F2F9F"/>
                </a:solidFill>
                <a:latin typeface="Franklin Gothic Medium"/>
                <a:cs typeface="Franklin Gothic Medium"/>
              </a:rPr>
              <a:t>String</a:t>
            </a:r>
            <a:r>
              <a:rPr dirty="0" sz="2800" spc="-150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=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finite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sequence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30">
                <a:latin typeface="Franklin Gothic Medium"/>
                <a:cs typeface="Franklin Gothic Medium"/>
              </a:rPr>
              <a:t>symbols</a:t>
            </a:r>
            <a:r>
              <a:rPr dirty="0" sz="2800" spc="-7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an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Franklin Gothic Medium"/>
                <a:cs typeface="Franklin Gothic Medium"/>
              </a:rPr>
              <a:t>alphabet </a:t>
            </a:r>
            <a:r>
              <a:rPr dirty="0" sz="2800" spc="-30">
                <a:latin typeface="Franklin Gothic Medium"/>
                <a:cs typeface="Franklin Gothic Medium"/>
              </a:rPr>
              <a:t>Example:</a:t>
            </a:r>
            <a:r>
              <a:rPr dirty="0" sz="2800" spc="-110">
                <a:latin typeface="Franklin Gothic Medium"/>
                <a:cs typeface="Franklin Gothic Medium"/>
              </a:rPr>
              <a:t> </a:t>
            </a:r>
            <a:r>
              <a:rPr dirty="0" sz="2800" spc="-210">
                <a:latin typeface="Franklin Gothic Medium"/>
                <a:cs typeface="Franklin Gothic Medium"/>
              </a:rPr>
              <a:t>A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latin typeface="Franklin Gothic Medium"/>
                <a:cs typeface="Franklin Gothic Medium"/>
              </a:rPr>
              <a:t>string</a:t>
            </a:r>
            <a:r>
              <a:rPr dirty="0" sz="2800" spc="-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over</a:t>
            </a:r>
            <a:r>
              <a:rPr dirty="0" sz="2800" spc="5">
                <a:latin typeface="Franklin Gothic Medium"/>
                <a:cs typeface="Franklin Gothic Medium"/>
              </a:rPr>
              <a:t> </a:t>
            </a:r>
            <a:r>
              <a:rPr dirty="0" sz="2800">
                <a:solidFill>
                  <a:srgbClr val="C00000"/>
                </a:solidFill>
                <a:latin typeface="Cambria Math"/>
                <a:cs typeface="Cambria Math"/>
              </a:rPr>
              <a:t>Σ</a:t>
            </a:r>
            <a:r>
              <a:rPr dirty="0" sz="2800" spc="1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2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{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𝑎,</a:t>
            </a:r>
            <a:r>
              <a:rPr dirty="0" sz="2800" spc="-155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𝑏,</a:t>
            </a:r>
            <a:r>
              <a:rPr dirty="0" sz="2800" spc="-15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2D75B6"/>
                </a:solidFill>
                <a:latin typeface="Cambria Math"/>
                <a:cs typeface="Cambria Math"/>
              </a:rPr>
              <a:t>𝑐,</a:t>
            </a:r>
            <a:r>
              <a:rPr dirty="0" sz="2800" spc="-160">
                <a:solidFill>
                  <a:srgbClr val="2D75B6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2D75B6"/>
                </a:solidFill>
                <a:latin typeface="Cambria Math"/>
                <a:cs typeface="Cambria Math"/>
              </a:rPr>
              <a:t>𝑑</a:t>
            </a:r>
            <a:r>
              <a:rPr dirty="0" sz="2800" spc="-25">
                <a:latin typeface="Cambria Math"/>
                <a:cs typeface="Cambria Math"/>
              </a:rPr>
              <a:t>}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dirty="0" sz="2800" spc="22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dirty="0" sz="2800" spc="16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 spc="-10">
                <a:solidFill>
                  <a:srgbClr val="6F2F9F"/>
                </a:solidFill>
                <a:latin typeface="Cambria Math"/>
                <a:cs typeface="Cambria Math"/>
              </a:rPr>
              <a:t>𝑎𝑐𝑐𝑎𝑏𝑎𝑑𝑑𝑎</a:t>
            </a:r>
            <a:endParaRPr sz="2800">
              <a:latin typeface="Cambria Math"/>
              <a:cs typeface="Cambria Math"/>
            </a:endParaRPr>
          </a:p>
          <a:p>
            <a:pPr marL="411480" marR="1491615" indent="-399415">
              <a:lnSpc>
                <a:spcPts val="5910"/>
              </a:lnSpc>
              <a:spcBef>
                <a:spcPts val="425"/>
              </a:spcBef>
              <a:tabLst>
                <a:tab pos="1981200" algn="l"/>
                <a:tab pos="2464435" algn="l"/>
                <a:tab pos="3085465" algn="l"/>
                <a:tab pos="503237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length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2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6F2F9F"/>
                </a:solidFill>
                <a:latin typeface="Franklin Gothic Medium"/>
                <a:cs typeface="Franklin Gothic Medium"/>
              </a:rPr>
              <a:t>string</a:t>
            </a:r>
            <a:r>
              <a:rPr dirty="0" sz="2800" spc="-95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is</a:t>
            </a:r>
            <a:r>
              <a:rPr dirty="0" sz="2800" spc="-10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the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number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25">
                <a:latin typeface="Franklin Gothic Medium"/>
                <a:cs typeface="Franklin Gothic Medium"/>
              </a:rPr>
              <a:t>symbols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that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it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contains Example: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=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10">
                <a:solidFill>
                  <a:srgbClr val="6F2F9F"/>
                </a:solidFill>
                <a:latin typeface="Cambria Math"/>
                <a:cs typeface="Cambria Math"/>
              </a:rPr>
              <a:t>𝑎𝑐𝑐𝑎𝑏𝑎𝑑𝑑𝑎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	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9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42545">
              <a:lnSpc>
                <a:spcPct val="100000"/>
              </a:lnSpc>
            </a:pPr>
            <a:r>
              <a:rPr dirty="0" spc="-25"/>
              <a:t>14</a:t>
            </a:r>
          </a:p>
        </p:txBody>
      </p:sp>
      <p:sp>
        <p:nvSpPr>
          <p:cNvPr id="12" name="object 12" descr=""/>
          <p:cNvSpPr txBox="1"/>
          <p:nvPr/>
        </p:nvSpPr>
        <p:spPr>
          <a:xfrm>
            <a:off x="6563868" y="6082284"/>
            <a:ext cx="2722245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Sequence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zero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symbols</a:t>
            </a:r>
            <a:endParaRPr sz="18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Strings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 spc="-25"/>
              <a:t>Languages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pc="-30"/>
              <a:t>An</a:t>
            </a:r>
            <a:r>
              <a:rPr dirty="0" spc="-120"/>
              <a:t> </a:t>
            </a:r>
            <a:r>
              <a:rPr dirty="0" spc="-20">
                <a:solidFill>
                  <a:srgbClr val="C00000"/>
                </a:solidFill>
              </a:rPr>
              <a:t>alphabet</a:t>
            </a:r>
            <a:r>
              <a:rPr dirty="0" spc="-100">
                <a:solidFill>
                  <a:srgbClr val="C00000"/>
                </a:solidFill>
              </a:rPr>
              <a:t> </a:t>
            </a:r>
            <a:r>
              <a:rPr dirty="0"/>
              <a:t>is</a:t>
            </a:r>
            <a:r>
              <a:rPr dirty="0" spc="-114"/>
              <a:t> </a:t>
            </a:r>
            <a:r>
              <a:rPr dirty="0" spc="-20"/>
              <a:t>any</a:t>
            </a:r>
            <a:r>
              <a:rPr dirty="0" spc="-105"/>
              <a:t> </a:t>
            </a:r>
            <a:r>
              <a:rPr dirty="0" spc="-10"/>
              <a:t>non-</a:t>
            </a:r>
            <a:r>
              <a:rPr dirty="0" spc="-60"/>
              <a:t>empty</a:t>
            </a:r>
            <a:r>
              <a:rPr dirty="0" spc="-105"/>
              <a:t> </a:t>
            </a:r>
            <a:r>
              <a:rPr dirty="0" spc="-25"/>
              <a:t>finite</a:t>
            </a:r>
            <a:r>
              <a:rPr dirty="0" spc="-100"/>
              <a:t> </a:t>
            </a:r>
            <a:r>
              <a:rPr dirty="0">
                <a:solidFill>
                  <a:srgbClr val="2D75B6"/>
                </a:solidFill>
              </a:rPr>
              <a:t>set</a:t>
            </a:r>
            <a:r>
              <a:rPr dirty="0"/>
              <a:t>,</a:t>
            </a:r>
            <a:r>
              <a:rPr dirty="0" spc="-100"/>
              <a:t> </a:t>
            </a:r>
            <a:r>
              <a:rPr dirty="0"/>
              <a:t>whose</a:t>
            </a:r>
            <a:r>
              <a:rPr dirty="0" spc="-114"/>
              <a:t> </a:t>
            </a:r>
            <a:r>
              <a:rPr dirty="0" spc="-25"/>
              <a:t>elements</a:t>
            </a:r>
            <a:r>
              <a:rPr dirty="0" spc="-85"/>
              <a:t> </a:t>
            </a:r>
            <a:r>
              <a:rPr dirty="0"/>
              <a:t>we</a:t>
            </a:r>
            <a:r>
              <a:rPr dirty="0" spc="-105"/>
              <a:t> </a:t>
            </a:r>
            <a:r>
              <a:rPr dirty="0"/>
              <a:t>call</a:t>
            </a:r>
            <a:r>
              <a:rPr dirty="0" spc="-120"/>
              <a:t> </a:t>
            </a:r>
            <a:r>
              <a:rPr dirty="0" spc="-10"/>
              <a:t>symbols </a:t>
            </a:r>
            <a:r>
              <a:rPr dirty="0"/>
              <a:t>or</a:t>
            </a:r>
            <a:r>
              <a:rPr dirty="0" spc="-50"/>
              <a:t> </a:t>
            </a:r>
            <a:r>
              <a:rPr dirty="0" spc="-10"/>
              <a:t>characters.</a:t>
            </a:r>
          </a:p>
          <a:p>
            <a:pPr algn="ctr" marL="508634">
              <a:lnSpc>
                <a:spcPts val="3879"/>
              </a:lnSpc>
              <a:tabLst>
                <a:tab pos="1036319" algn="l"/>
              </a:tabLst>
            </a:pPr>
            <a:r>
              <a:rPr dirty="0" baseline="-4166" sz="6000" spc="-75">
                <a:solidFill>
                  <a:srgbClr val="C00000"/>
                </a:solidFill>
                <a:latin typeface="Cambria Math"/>
                <a:cs typeface="Cambria Math"/>
              </a:rPr>
              <a:t>Σ</a:t>
            </a:r>
            <a:r>
              <a:rPr dirty="0" baseline="-4166" sz="6000">
                <a:solidFill>
                  <a:srgbClr val="C00000"/>
                </a:solidFill>
                <a:latin typeface="Cambria Math"/>
                <a:cs typeface="Cambria Math"/>
              </a:rPr>
              <a:t>	</a:t>
            </a:r>
            <a:r>
              <a:rPr dirty="0" sz="3200"/>
              <a:t>=</a:t>
            </a:r>
            <a:r>
              <a:rPr dirty="0" sz="3200" spc="-70"/>
              <a:t> </a:t>
            </a:r>
            <a:r>
              <a:rPr dirty="0" sz="3200" spc="-40"/>
              <a:t>Alphabet</a:t>
            </a:r>
            <a:r>
              <a:rPr dirty="0" sz="3200" spc="-75"/>
              <a:t> </a:t>
            </a:r>
            <a:r>
              <a:rPr dirty="0" sz="3200"/>
              <a:t>=</a:t>
            </a:r>
            <a:r>
              <a:rPr dirty="0" sz="3200" spc="-65"/>
              <a:t> </a:t>
            </a:r>
            <a:r>
              <a:rPr dirty="0" sz="3200">
                <a:solidFill>
                  <a:srgbClr val="2D75B6"/>
                </a:solidFill>
              </a:rPr>
              <a:t>Set</a:t>
            </a:r>
            <a:r>
              <a:rPr dirty="0" sz="3200" spc="-80">
                <a:solidFill>
                  <a:srgbClr val="2D75B6"/>
                </a:solidFill>
              </a:rPr>
              <a:t> </a:t>
            </a:r>
            <a:r>
              <a:rPr dirty="0" sz="3200"/>
              <a:t>of</a:t>
            </a:r>
            <a:r>
              <a:rPr dirty="0" sz="3200" spc="-65"/>
              <a:t> </a:t>
            </a:r>
            <a:r>
              <a:rPr dirty="0" sz="3200" spc="-10"/>
              <a:t>symbols</a:t>
            </a:r>
            <a:endParaRPr sz="32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pc="-10">
                <a:solidFill>
                  <a:srgbClr val="6F2F9F"/>
                </a:solidFill>
              </a:rPr>
              <a:t>String</a:t>
            </a:r>
            <a:r>
              <a:rPr dirty="0" spc="-165">
                <a:solidFill>
                  <a:srgbClr val="6F2F9F"/>
                </a:solidFill>
              </a:rPr>
              <a:t> </a:t>
            </a:r>
            <a:r>
              <a:rPr dirty="0"/>
              <a:t>=</a:t>
            </a:r>
            <a:r>
              <a:rPr dirty="0" spc="-105"/>
              <a:t> </a:t>
            </a:r>
            <a:r>
              <a:rPr dirty="0" spc="-210"/>
              <a:t>A</a:t>
            </a:r>
            <a:r>
              <a:rPr dirty="0"/>
              <a:t> </a:t>
            </a:r>
            <a:r>
              <a:rPr dirty="0" spc="-25"/>
              <a:t>finite</a:t>
            </a:r>
            <a:r>
              <a:rPr dirty="0" spc="-80"/>
              <a:t> </a:t>
            </a:r>
            <a:r>
              <a:rPr dirty="0"/>
              <a:t>sequence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90"/>
              <a:t> </a:t>
            </a:r>
            <a:r>
              <a:rPr dirty="0" spc="-25"/>
              <a:t>symbols</a:t>
            </a:r>
            <a:r>
              <a:rPr dirty="0" spc="-85"/>
              <a:t> </a:t>
            </a:r>
            <a:r>
              <a:rPr dirty="0"/>
              <a:t>of</a:t>
            </a:r>
            <a:r>
              <a:rPr dirty="0" spc="-90"/>
              <a:t> </a:t>
            </a:r>
            <a:r>
              <a:rPr dirty="0"/>
              <a:t>an</a:t>
            </a:r>
            <a:r>
              <a:rPr dirty="0" spc="-85"/>
              <a:t> </a:t>
            </a:r>
            <a:r>
              <a:rPr dirty="0" spc="-10">
                <a:solidFill>
                  <a:srgbClr val="C00000"/>
                </a:solidFill>
              </a:rPr>
              <a:t>alphabet</a:t>
            </a: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/>
              <a:t>The</a:t>
            </a:r>
            <a:r>
              <a:rPr dirty="0" spc="-85"/>
              <a:t> </a:t>
            </a:r>
            <a:r>
              <a:rPr dirty="0"/>
              <a:t>length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120"/>
              <a:t> </a:t>
            </a:r>
            <a:r>
              <a:rPr dirty="0"/>
              <a:t>a</a:t>
            </a:r>
            <a:r>
              <a:rPr dirty="0" spc="-105"/>
              <a:t> </a:t>
            </a:r>
            <a:r>
              <a:rPr dirty="0" spc="-20">
                <a:solidFill>
                  <a:srgbClr val="6F2F9F"/>
                </a:solidFill>
              </a:rPr>
              <a:t>string</a:t>
            </a:r>
            <a:r>
              <a:rPr dirty="0" spc="-95">
                <a:solidFill>
                  <a:srgbClr val="6F2F9F"/>
                </a:solidFill>
              </a:rPr>
              <a:t> </a:t>
            </a:r>
            <a:r>
              <a:rPr dirty="0"/>
              <a:t>is</a:t>
            </a:r>
            <a:r>
              <a:rPr dirty="0" spc="-105"/>
              <a:t> </a:t>
            </a:r>
            <a:r>
              <a:rPr dirty="0"/>
              <a:t>the</a:t>
            </a:r>
            <a:r>
              <a:rPr dirty="0" spc="-85"/>
              <a:t> </a:t>
            </a:r>
            <a:r>
              <a:rPr dirty="0" spc="-25"/>
              <a:t>number</a:t>
            </a:r>
            <a:r>
              <a:rPr dirty="0" spc="-95"/>
              <a:t> </a:t>
            </a:r>
            <a:r>
              <a:rPr dirty="0"/>
              <a:t>of</a:t>
            </a:r>
            <a:r>
              <a:rPr dirty="0" spc="-100"/>
              <a:t> </a:t>
            </a:r>
            <a:r>
              <a:rPr dirty="0" spc="-25"/>
              <a:t>symbols</a:t>
            </a:r>
            <a:r>
              <a:rPr dirty="0" spc="-90"/>
              <a:t> </a:t>
            </a:r>
            <a:r>
              <a:rPr dirty="0"/>
              <a:t>that</a:t>
            </a:r>
            <a:r>
              <a:rPr dirty="0" spc="-100"/>
              <a:t> </a:t>
            </a:r>
            <a:r>
              <a:rPr dirty="0"/>
              <a:t>it</a:t>
            </a:r>
            <a:r>
              <a:rPr dirty="0" spc="-95"/>
              <a:t> </a:t>
            </a:r>
            <a:r>
              <a:rPr dirty="0" spc="-10"/>
              <a:t>contains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588060" y="3810761"/>
            <a:ext cx="38652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25">
                <a:latin typeface="Franklin Gothic Medium"/>
                <a:cs typeface="Franklin Gothic Medium"/>
              </a:rPr>
              <a:t>Empty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2800" spc="-20">
                <a:solidFill>
                  <a:srgbClr val="6F2F9F"/>
                </a:solidFill>
                <a:latin typeface="Franklin Gothic Medium"/>
                <a:cs typeface="Franklin Gothic Medium"/>
              </a:rPr>
              <a:t>string</a:t>
            </a:r>
            <a:r>
              <a:rPr dirty="0" sz="2800" spc="-90">
                <a:solidFill>
                  <a:srgbClr val="6F2F9F"/>
                </a:solidFill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=</a:t>
            </a:r>
            <a:r>
              <a:rPr dirty="0" sz="2800" spc="-60">
                <a:latin typeface="Franklin Gothic Medium"/>
                <a:cs typeface="Franklin Gothic Medium"/>
              </a:rPr>
              <a:t> </a:t>
            </a:r>
            <a:r>
              <a:rPr dirty="0" sz="3600">
                <a:latin typeface="Cambria Math"/>
                <a:cs typeface="Cambria Math"/>
              </a:rPr>
              <a:t>𝜀</a:t>
            </a:r>
            <a:r>
              <a:rPr dirty="0" sz="3600" spc="-60">
                <a:latin typeface="Cambria Math"/>
                <a:cs typeface="Cambria Math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(epsilon)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129910" y="4472127"/>
            <a:ext cx="4197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50085" algn="l"/>
              </a:tabLst>
            </a:pP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𝑦</a:t>
            </a:r>
            <a:r>
              <a:rPr dirty="0" sz="2800" spc="22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dirty="0" sz="2800" spc="15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 spc="-20">
                <a:solidFill>
                  <a:srgbClr val="CC66FF"/>
                </a:solidFill>
                <a:latin typeface="Cambria Math"/>
                <a:cs typeface="Cambria Math"/>
              </a:rPr>
              <a:t>𝑎𝑏𝑏𝑎</a:t>
            </a:r>
            <a:r>
              <a:rPr dirty="0" sz="2800">
                <a:solidFill>
                  <a:srgbClr val="CC66FF"/>
                </a:solidFill>
                <a:latin typeface="Cambria Math"/>
                <a:cs typeface="Cambria Math"/>
              </a:rPr>
              <a:t>	</a:t>
            </a:r>
            <a:r>
              <a:rPr dirty="0" baseline="1984" sz="4200">
                <a:solidFill>
                  <a:srgbClr val="6F2F9F"/>
                </a:solidFill>
                <a:latin typeface="Cambria Math"/>
                <a:cs typeface="Cambria Math"/>
              </a:rPr>
              <a:t>𝑤𝑦</a:t>
            </a:r>
            <a:r>
              <a:rPr dirty="0" baseline="1984" sz="4200" spc="284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baseline="1984" sz="420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dirty="0" baseline="1984" sz="4200" spc="24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baseline="1984" sz="4200" spc="-15">
                <a:solidFill>
                  <a:srgbClr val="6F2F9F"/>
                </a:solidFill>
                <a:latin typeface="Cambria Math"/>
                <a:cs typeface="Cambria Math"/>
              </a:rPr>
              <a:t>𝑎𝑐𝑐</a:t>
            </a:r>
            <a:r>
              <a:rPr dirty="0" baseline="1984" sz="4200" spc="-15">
                <a:solidFill>
                  <a:srgbClr val="CC66FF"/>
                </a:solidFill>
                <a:latin typeface="Cambria Math"/>
                <a:cs typeface="Cambria Math"/>
              </a:rPr>
              <a:t>𝑎𝑏𝑏𝑎</a:t>
            </a:r>
            <a:endParaRPr baseline="1984" sz="42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8060" y="4359427"/>
            <a:ext cx="2527935" cy="11449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1100"/>
              </a:lnSpc>
              <a:spcBef>
                <a:spcPts val="100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Concatenation: </a:t>
            </a:r>
            <a:r>
              <a:rPr dirty="0" sz="2800" spc="-20">
                <a:latin typeface="Franklin Gothic Medium"/>
                <a:cs typeface="Franklin Gothic Medium"/>
              </a:rPr>
              <a:t>Reverse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a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string: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36290" y="4346008"/>
            <a:ext cx="1539875" cy="115570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59690">
              <a:lnSpc>
                <a:spcPct val="100000"/>
              </a:lnSpc>
              <a:spcBef>
                <a:spcPts val="1185"/>
              </a:spcBef>
            </a:pP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dirty="0" sz="2800" spc="22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dirty="0" sz="2800" spc="160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𝑎𝑐𝑐</a:t>
            </a:r>
            <a:endParaRPr sz="2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090"/>
              </a:spcBef>
            </a:pPr>
            <a:r>
              <a:rPr dirty="0" sz="2800" spc="95">
                <a:solidFill>
                  <a:srgbClr val="6F2F9F"/>
                </a:solidFill>
                <a:latin typeface="Cambria Math"/>
                <a:cs typeface="Cambria Math"/>
              </a:rPr>
              <a:t>𝑤</a:t>
            </a:r>
            <a:r>
              <a:rPr dirty="0" baseline="27100" sz="3075" spc="142">
                <a:solidFill>
                  <a:srgbClr val="6F2F9F"/>
                </a:solidFill>
                <a:latin typeface="Cambria Math"/>
                <a:cs typeface="Cambria Math"/>
              </a:rPr>
              <a:t>𝑅</a:t>
            </a:r>
            <a:r>
              <a:rPr dirty="0" baseline="27100" sz="3075" spc="44">
                <a:solidFill>
                  <a:srgbClr val="6F2F9F"/>
                </a:solidFill>
                <a:latin typeface="Cambria Math"/>
                <a:cs typeface="Cambria Math"/>
              </a:rPr>
              <a:t>  </a:t>
            </a:r>
            <a:r>
              <a:rPr dirty="0" sz="2800">
                <a:solidFill>
                  <a:srgbClr val="6F2F9F"/>
                </a:solidFill>
                <a:latin typeface="Cambria Math"/>
                <a:cs typeface="Cambria Math"/>
              </a:rPr>
              <a:t>=</a:t>
            </a:r>
            <a:r>
              <a:rPr dirty="0" sz="2800" spc="145">
                <a:solidFill>
                  <a:srgbClr val="6F2F9F"/>
                </a:solidFill>
                <a:latin typeface="Cambria Math"/>
                <a:cs typeface="Cambria Math"/>
              </a:rPr>
              <a:t> </a:t>
            </a:r>
            <a:r>
              <a:rPr dirty="0" sz="2800" spc="-25">
                <a:solidFill>
                  <a:srgbClr val="6F2F9F"/>
                </a:solidFill>
                <a:latin typeface="Cambria Math"/>
                <a:cs typeface="Cambria Math"/>
              </a:rPr>
              <a:t>𝑐𝑐𝑎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660635" y="4424171"/>
            <a:ext cx="2071370" cy="64643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 marR="351790">
              <a:lnSpc>
                <a:spcPct val="100000"/>
              </a:lnSpc>
              <a:spcBef>
                <a:spcPts val="320"/>
              </a:spcBef>
            </a:pPr>
            <a:r>
              <a:rPr dirty="0" sz="1800">
                <a:latin typeface="Arial MT"/>
                <a:cs typeface="Arial MT"/>
              </a:rPr>
              <a:t>Append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Cambria Math"/>
                <a:cs typeface="Cambria Math"/>
              </a:rPr>
              <a:t>𝑦</a:t>
            </a:r>
            <a:r>
              <a:rPr dirty="0" sz="1800" spc="125">
                <a:latin typeface="Cambria Math"/>
                <a:cs typeface="Cambria Math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 </a:t>
            </a:r>
            <a:r>
              <a:rPr dirty="0" sz="1800">
                <a:latin typeface="Arial MT"/>
                <a:cs typeface="Arial MT"/>
              </a:rPr>
              <a:t>end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60">
                <a:latin typeface="Cambria Math"/>
                <a:cs typeface="Cambria Math"/>
              </a:rPr>
              <a:t>𝑤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88060" y="5611469"/>
            <a:ext cx="3644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Language: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5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0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770373" y="5612993"/>
            <a:ext cx="26809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baseline="-15873" sz="2625">
                <a:solidFill>
                  <a:srgbClr val="EC207B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644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{𝑎𝑏,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𝑎𝑐,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𝑏𝑐,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𝑑𝑑}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704708" y="5612993"/>
            <a:ext cx="3919854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baseline="-15873" sz="2625">
                <a:solidFill>
                  <a:srgbClr val="EC207B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637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{𝜀,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𝑎𝑏,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𝑎𝑏𝑎𝑏,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𝑎𝑏𝑎𝑏𝑎𝑏,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765802" y="6191199"/>
            <a:ext cx="1598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baseline="-15873" sz="2625">
                <a:solidFill>
                  <a:srgbClr val="EC207B"/>
                </a:solidFill>
                <a:latin typeface="Cambria Math"/>
                <a:cs typeface="Cambria Math"/>
              </a:rPr>
              <a:t>3</a:t>
            </a:r>
            <a:r>
              <a:rPr dirty="0" baseline="-15873" sz="2625" spc="562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{}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20128" y="6269735"/>
            <a:ext cx="3575685" cy="3708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127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5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Empty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language: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set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zero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strings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664964" y="3998976"/>
            <a:ext cx="2722245" cy="368935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320"/>
              </a:spcBef>
            </a:pPr>
            <a:r>
              <a:rPr dirty="0" sz="1800" spc="-10">
                <a:latin typeface="Franklin Gothic Medium"/>
                <a:cs typeface="Franklin Gothic Medium"/>
              </a:rPr>
              <a:t>Sequence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5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zero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symbols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071097" y="6431381"/>
            <a:ext cx="20256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15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Strings</a:t>
            </a:r>
            <a:r>
              <a:rPr dirty="0" spc="-150"/>
              <a:t> </a:t>
            </a:r>
            <a:r>
              <a:rPr dirty="0"/>
              <a:t>and</a:t>
            </a:r>
            <a:r>
              <a:rPr dirty="0" spc="-130"/>
              <a:t> </a:t>
            </a:r>
            <a:r>
              <a:rPr dirty="0" spc="-25"/>
              <a:t>Languages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88060" y="1324102"/>
            <a:ext cx="36461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Language: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6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of</a:t>
            </a:r>
            <a:r>
              <a:rPr dirty="0" sz="2800" spc="-8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strings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57673" y="1325066"/>
            <a:ext cx="687959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984500" algn="l"/>
              </a:tabLst>
            </a:pP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baseline="-15873" sz="2625">
                <a:solidFill>
                  <a:srgbClr val="EC207B"/>
                </a:solidFill>
                <a:latin typeface="Cambria Math"/>
                <a:cs typeface="Cambria Math"/>
              </a:rPr>
              <a:t>1</a:t>
            </a:r>
            <a:r>
              <a:rPr dirty="0" baseline="-15873" sz="2625" spc="644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5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{𝑎𝑏,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𝑎𝑐,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𝑏𝑐,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25">
                <a:latin typeface="Cambria Math"/>
                <a:cs typeface="Cambria Math"/>
              </a:rPr>
              <a:t>𝑑𝑑}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baseline="-15873" sz="2625">
                <a:solidFill>
                  <a:srgbClr val="EC207B"/>
                </a:solidFill>
                <a:latin typeface="Cambria Math"/>
                <a:cs typeface="Cambria Math"/>
              </a:rPr>
              <a:t>2</a:t>
            </a:r>
            <a:r>
              <a:rPr dirty="0" baseline="-15873" sz="2625" spc="637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7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{𝜀,</a:t>
            </a:r>
            <a:r>
              <a:rPr dirty="0" sz="2400" spc="-10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𝑎𝑏,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𝑎𝑏𝑎𝑏,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 spc="-10">
                <a:latin typeface="Cambria Math"/>
                <a:cs typeface="Cambria Math"/>
              </a:rPr>
              <a:t>𝑎𝑏𝑎𝑏𝑎𝑏,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…</a:t>
            </a:r>
            <a:r>
              <a:rPr dirty="0" sz="2400" spc="-114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765802" y="1903221"/>
            <a:ext cx="1598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EC207B"/>
                </a:solidFill>
                <a:latin typeface="Cambria Math"/>
                <a:cs typeface="Cambria Math"/>
              </a:rPr>
              <a:t>𝐿</a:t>
            </a:r>
            <a:r>
              <a:rPr dirty="0" baseline="-15873" sz="2625">
                <a:solidFill>
                  <a:srgbClr val="EC207B"/>
                </a:solidFill>
                <a:latin typeface="Cambria Math"/>
                <a:cs typeface="Cambria Math"/>
              </a:rPr>
              <a:t>3</a:t>
            </a:r>
            <a:r>
              <a:rPr dirty="0" baseline="-15873" sz="2625" spc="562">
                <a:solidFill>
                  <a:srgbClr val="EC207B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4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{}</a:t>
            </a:r>
            <a:r>
              <a:rPr dirty="0" sz="2400" spc="130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13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∅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20128" y="1982723"/>
            <a:ext cx="3575685" cy="37084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20"/>
              </a:spcBef>
            </a:pPr>
            <a:r>
              <a:rPr dirty="0" sz="1800" spc="-25">
                <a:latin typeface="Franklin Gothic Medium"/>
                <a:cs typeface="Franklin Gothic Medium"/>
              </a:rPr>
              <a:t>Empty</a:t>
            </a:r>
            <a:r>
              <a:rPr dirty="0" sz="1800" spc="-65">
                <a:latin typeface="Franklin Gothic Medium"/>
                <a:cs typeface="Franklin Gothic Medium"/>
              </a:rPr>
              <a:t> </a:t>
            </a:r>
            <a:r>
              <a:rPr dirty="0" sz="1800" spc="-20">
                <a:latin typeface="Franklin Gothic Medium"/>
                <a:cs typeface="Franklin Gothic Medium"/>
              </a:rPr>
              <a:t>language:</a:t>
            </a:r>
            <a:r>
              <a:rPr dirty="0" sz="1800" spc="-55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set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of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>
                <a:latin typeface="Franklin Gothic Medium"/>
                <a:cs typeface="Franklin Gothic Medium"/>
              </a:rPr>
              <a:t>zero</a:t>
            </a:r>
            <a:r>
              <a:rPr dirty="0" sz="1800" spc="-60">
                <a:latin typeface="Franklin Gothic Medium"/>
                <a:cs typeface="Franklin Gothic Medium"/>
              </a:rPr>
              <a:t> </a:t>
            </a:r>
            <a:r>
              <a:rPr dirty="0" sz="1800" spc="-10">
                <a:latin typeface="Franklin Gothic Medium"/>
                <a:cs typeface="Franklin Gothic Medium"/>
              </a:rPr>
              <a:t>strings</a:t>
            </a:r>
            <a:endParaRPr sz="18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09016" y="2642616"/>
            <a:ext cx="11224260" cy="52451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619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84"/>
              </a:spcBef>
            </a:pPr>
            <a:r>
              <a:rPr dirty="0" sz="2800" spc="-10">
                <a:latin typeface="Franklin Gothic Medium"/>
                <a:cs typeface="Franklin Gothic Medium"/>
              </a:rPr>
              <a:t>How</a:t>
            </a:r>
            <a:r>
              <a:rPr dirty="0" sz="2800" spc="-14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to</a:t>
            </a:r>
            <a:r>
              <a:rPr dirty="0" sz="2800" spc="-125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describe</a:t>
            </a:r>
            <a:r>
              <a:rPr dirty="0" sz="2800" spc="-14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languages?</a:t>
            </a:r>
            <a:endParaRPr sz="2800">
              <a:latin typeface="Franklin Gothic Medium"/>
              <a:cs typeface="Franklin Gothic Medium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38911" y="3390646"/>
            <a:ext cx="39566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0">
                <a:latin typeface="Franklin Gothic Medium"/>
                <a:cs typeface="Franklin Gothic Medium"/>
              </a:rPr>
              <a:t>Enumeration: </a:t>
            </a:r>
            <a:r>
              <a:rPr dirty="0" sz="2800">
                <a:latin typeface="Cambria Math"/>
                <a:cs typeface="Cambria Math"/>
              </a:rPr>
              <a:t>{𝑐,</a:t>
            </a:r>
            <a:r>
              <a:rPr dirty="0" sz="2800" spc="-13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𝑎𝑑𝑏,</a:t>
            </a:r>
            <a:r>
              <a:rPr dirty="0" sz="2800" spc="-130">
                <a:latin typeface="Cambria Math"/>
                <a:cs typeface="Cambria Math"/>
              </a:rPr>
              <a:t> </a:t>
            </a:r>
            <a:r>
              <a:rPr dirty="0" sz="2800" spc="-20">
                <a:latin typeface="Cambria Math"/>
                <a:cs typeface="Cambria Math"/>
              </a:rPr>
              <a:t>𝑐𝑐𝑐}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050535" y="3429000"/>
            <a:ext cx="6682740" cy="4622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95"/>
              </a:spcBef>
            </a:pPr>
            <a:r>
              <a:rPr dirty="0" sz="2400" spc="-20">
                <a:latin typeface="Franklin Gothic Medium"/>
                <a:cs typeface="Franklin Gothic Medium"/>
              </a:rPr>
              <a:t>Enumerate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all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strings</a:t>
            </a:r>
            <a:r>
              <a:rPr dirty="0" sz="2400" spc="-114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in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language.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4272026" y="4171315"/>
            <a:ext cx="630555" cy="328930"/>
          </a:xfrm>
          <a:custGeom>
            <a:avLst/>
            <a:gdLst/>
            <a:ahLst/>
            <a:cxnLst/>
            <a:rect l="l" t="t" r="r" b="b"/>
            <a:pathLst>
              <a:path w="630554" h="328929">
                <a:moveTo>
                  <a:pt x="525652" y="0"/>
                </a:moveTo>
                <a:lnTo>
                  <a:pt x="521081" y="13335"/>
                </a:lnTo>
                <a:lnTo>
                  <a:pt x="540111" y="21597"/>
                </a:lnTo>
                <a:lnTo>
                  <a:pt x="556450" y="33051"/>
                </a:lnTo>
                <a:lnTo>
                  <a:pt x="581151" y="65532"/>
                </a:lnTo>
                <a:lnTo>
                  <a:pt x="595725" y="109219"/>
                </a:lnTo>
                <a:lnTo>
                  <a:pt x="599315" y="134417"/>
                </a:lnTo>
                <a:lnTo>
                  <a:pt x="599368" y="134790"/>
                </a:lnTo>
                <a:lnTo>
                  <a:pt x="600583" y="162814"/>
                </a:lnTo>
                <a:lnTo>
                  <a:pt x="599368" y="191845"/>
                </a:lnTo>
                <a:lnTo>
                  <a:pt x="595725" y="218186"/>
                </a:lnTo>
                <a:lnTo>
                  <a:pt x="581151" y="262890"/>
                </a:lnTo>
                <a:lnTo>
                  <a:pt x="556466" y="295767"/>
                </a:lnTo>
                <a:lnTo>
                  <a:pt x="521588" y="315595"/>
                </a:lnTo>
                <a:lnTo>
                  <a:pt x="525652" y="328930"/>
                </a:lnTo>
                <a:lnTo>
                  <a:pt x="570531" y="307895"/>
                </a:lnTo>
                <a:lnTo>
                  <a:pt x="603503" y="271526"/>
                </a:lnTo>
                <a:lnTo>
                  <a:pt x="623792" y="222678"/>
                </a:lnTo>
                <a:lnTo>
                  <a:pt x="630554" y="164592"/>
                </a:lnTo>
                <a:lnTo>
                  <a:pt x="628885" y="134790"/>
                </a:lnTo>
                <a:lnTo>
                  <a:pt x="615338" y="80974"/>
                </a:lnTo>
                <a:lnTo>
                  <a:pt x="588428" y="37468"/>
                </a:lnTo>
                <a:lnTo>
                  <a:pt x="549515" y="8616"/>
                </a:lnTo>
                <a:lnTo>
                  <a:pt x="525652" y="0"/>
                </a:lnTo>
                <a:close/>
              </a:path>
              <a:path w="630554" h="328929">
                <a:moveTo>
                  <a:pt x="104901" y="0"/>
                </a:moveTo>
                <a:lnTo>
                  <a:pt x="60229" y="21113"/>
                </a:lnTo>
                <a:lnTo>
                  <a:pt x="27177" y="57658"/>
                </a:lnTo>
                <a:lnTo>
                  <a:pt x="6826" y="106553"/>
                </a:lnTo>
                <a:lnTo>
                  <a:pt x="100" y="162814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72" y="291621"/>
                </a:lnTo>
                <a:lnTo>
                  <a:pt x="81022" y="320335"/>
                </a:lnTo>
                <a:lnTo>
                  <a:pt x="104901" y="328930"/>
                </a:lnTo>
                <a:lnTo>
                  <a:pt x="109093" y="315595"/>
                </a:lnTo>
                <a:lnTo>
                  <a:pt x="90374" y="307306"/>
                </a:lnTo>
                <a:lnTo>
                  <a:pt x="74215" y="295767"/>
                </a:lnTo>
                <a:lnTo>
                  <a:pt x="49529" y="262890"/>
                </a:lnTo>
                <a:lnTo>
                  <a:pt x="34956" y="218186"/>
                </a:lnTo>
                <a:lnTo>
                  <a:pt x="30173" y="164592"/>
                </a:lnTo>
                <a:lnTo>
                  <a:pt x="30099" y="162814"/>
                </a:lnTo>
                <a:lnTo>
                  <a:pt x="31313" y="134790"/>
                </a:lnTo>
                <a:lnTo>
                  <a:pt x="41028" y="86125"/>
                </a:lnTo>
                <a:lnTo>
                  <a:pt x="60630" y="47696"/>
                </a:lnTo>
                <a:lnTo>
                  <a:pt x="90642" y="21597"/>
                </a:lnTo>
                <a:lnTo>
                  <a:pt x="109600" y="13335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13511" y="4070350"/>
            <a:ext cx="510095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575050" algn="l"/>
                <a:tab pos="4121150" algn="l"/>
              </a:tabLst>
            </a:pPr>
            <a:r>
              <a:rPr dirty="0" sz="2800" spc="-25">
                <a:latin typeface="Franklin Gothic Medium"/>
                <a:cs typeface="Franklin Gothic Medium"/>
              </a:rPr>
              <a:t>Regular</a:t>
            </a:r>
            <a:r>
              <a:rPr dirty="0" sz="2800" spc="-90">
                <a:latin typeface="Franklin Gothic Medium"/>
                <a:cs typeface="Franklin Gothic Medium"/>
              </a:rPr>
              <a:t> </a:t>
            </a:r>
            <a:r>
              <a:rPr dirty="0" sz="2800">
                <a:latin typeface="Franklin Gothic Medium"/>
                <a:cs typeface="Franklin Gothic Medium"/>
              </a:rPr>
              <a:t>Expressions:</a:t>
            </a:r>
            <a:r>
              <a:rPr dirty="0" sz="2800" spc="-100">
                <a:latin typeface="Franklin Gothic Medium"/>
                <a:cs typeface="Franklin Gothic Medium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𝑐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25">
                <a:latin typeface="Cambria Math"/>
                <a:cs typeface="Cambria Math"/>
              </a:rPr>
              <a:t>𝑎𝑏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baseline="27100" sz="3075" spc="-15">
                <a:latin typeface="Cambria Math"/>
                <a:cs typeface="Cambria Math"/>
              </a:rPr>
              <a:t>∗</a:t>
            </a:r>
            <a:r>
              <a:rPr dirty="0" sz="2800" spc="-10">
                <a:latin typeface="Cambria Math"/>
                <a:cs typeface="Cambria Math"/>
              </a:rPr>
              <a:t>(𝑑|𝑐)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096000" y="4108703"/>
            <a:ext cx="5637530" cy="830580"/>
          </a:xfrm>
          <a:prstGeom prst="rect">
            <a:avLst/>
          </a:prstGeom>
          <a:solidFill>
            <a:srgbClr val="D9D9D9"/>
          </a:solidFill>
        </p:spPr>
        <p:txBody>
          <a:bodyPr wrap="square" lIns="0" tIns="37465" rIns="0" bIns="0" rtlCol="0" vert="horz">
            <a:spAutoFit/>
          </a:bodyPr>
          <a:lstStyle/>
          <a:p>
            <a:pPr marL="92075" marR="269875">
              <a:lnSpc>
                <a:spcPct val="100000"/>
              </a:lnSpc>
              <a:spcBef>
                <a:spcPts val="295"/>
              </a:spcBef>
            </a:pPr>
            <a:r>
              <a:rPr dirty="0" sz="2400" spc="-10">
                <a:latin typeface="Franklin Gothic Medium"/>
                <a:cs typeface="Franklin Gothic Medium"/>
              </a:rPr>
              <a:t>Expression</a:t>
            </a:r>
            <a:r>
              <a:rPr dirty="0" sz="2400" spc="-10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to</a:t>
            </a:r>
            <a:r>
              <a:rPr dirty="0" sz="2400" spc="-100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generate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strings</a:t>
            </a:r>
            <a:r>
              <a:rPr dirty="0" sz="2400" spc="-11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that</a:t>
            </a:r>
            <a:r>
              <a:rPr dirty="0" sz="2400" spc="-7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are</a:t>
            </a:r>
            <a:r>
              <a:rPr dirty="0" sz="2400" spc="-85">
                <a:latin typeface="Franklin Gothic Medium"/>
                <a:cs typeface="Franklin Gothic Medium"/>
              </a:rPr>
              <a:t> </a:t>
            </a:r>
            <a:r>
              <a:rPr dirty="0" sz="2400" spc="-25">
                <a:latin typeface="Franklin Gothic Medium"/>
                <a:cs typeface="Franklin Gothic Medium"/>
              </a:rPr>
              <a:t>in </a:t>
            </a:r>
            <a:r>
              <a:rPr dirty="0" sz="2400">
                <a:latin typeface="Franklin Gothic Medium"/>
                <a:cs typeface="Franklin Gothic Medium"/>
              </a:rPr>
              <a:t>the</a:t>
            </a:r>
            <a:r>
              <a:rPr dirty="0" sz="2400" spc="-70">
                <a:latin typeface="Franklin Gothic Medium"/>
                <a:cs typeface="Franklin Gothic Medium"/>
              </a:rPr>
              <a:t> </a:t>
            </a:r>
            <a:r>
              <a:rPr dirty="0" sz="2400" spc="-10">
                <a:latin typeface="Franklin Gothic Medium"/>
                <a:cs typeface="Franklin Gothic Medium"/>
              </a:rPr>
              <a:t>language</a:t>
            </a:r>
            <a:endParaRPr sz="24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763515" y="5256021"/>
            <a:ext cx="1597660" cy="7607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0"/>
              </a:spcBef>
            </a:pPr>
            <a:r>
              <a:rPr dirty="0" sz="2400">
                <a:latin typeface="Franklin Gothic Medium"/>
                <a:cs typeface="Franklin Gothic Medium"/>
              </a:rPr>
              <a:t>S</a:t>
            </a:r>
            <a:r>
              <a:rPr dirty="0" sz="2400" spc="-20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→</a:t>
            </a:r>
            <a:r>
              <a:rPr dirty="0" sz="2400" spc="55">
                <a:latin typeface="Cambria Math"/>
                <a:cs typeface="Cambria Math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aSb</a:t>
            </a:r>
            <a:r>
              <a:rPr dirty="0" sz="2400" spc="-2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Franklin Gothic Medium"/>
                <a:cs typeface="Franklin Gothic Medium"/>
              </a:rPr>
              <a:t>|</a:t>
            </a:r>
            <a:r>
              <a:rPr dirty="0" sz="2400" spc="-15">
                <a:latin typeface="Franklin Gothic Medium"/>
                <a:cs typeface="Franklin Gothic Medium"/>
              </a:rPr>
              <a:t> </a:t>
            </a:r>
            <a:r>
              <a:rPr dirty="0" sz="2400" spc="-75">
                <a:latin typeface="Franklin Gothic Medium"/>
                <a:cs typeface="Franklin Gothic Medium"/>
              </a:rPr>
              <a:t>R </a:t>
            </a:r>
            <a:r>
              <a:rPr dirty="0" sz="2400">
                <a:latin typeface="Franklin Gothic Medium"/>
                <a:cs typeface="Franklin Gothic Medium"/>
              </a:rPr>
              <a:t>R</a:t>
            </a:r>
            <a:r>
              <a:rPr dirty="0" sz="2400" spc="-45">
                <a:latin typeface="Franklin Gothic Medium"/>
                <a:cs typeface="Franklin Gothic Medium"/>
              </a:rPr>
              <a:t> </a:t>
            </a:r>
            <a:r>
              <a:rPr dirty="0" sz="2400">
                <a:latin typeface="Cambria Math"/>
                <a:cs typeface="Cambria Math"/>
              </a:rPr>
              <a:t>→</a:t>
            </a:r>
            <a:r>
              <a:rPr dirty="0" sz="2400" spc="25">
                <a:latin typeface="Cambria Math"/>
                <a:cs typeface="Cambria Math"/>
              </a:rPr>
              <a:t> </a:t>
            </a:r>
            <a:r>
              <a:rPr dirty="0" sz="2400" spc="-50">
                <a:latin typeface="Cambria Math"/>
                <a:cs typeface="Cambria Math"/>
              </a:rPr>
              <a:t>ε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2914650" y="6129909"/>
            <a:ext cx="467995" cy="330835"/>
          </a:xfrm>
          <a:custGeom>
            <a:avLst/>
            <a:gdLst/>
            <a:ahLst/>
            <a:cxnLst/>
            <a:rect l="l" t="t" r="r" b="b"/>
            <a:pathLst>
              <a:path w="467995" h="330835">
                <a:moveTo>
                  <a:pt x="467613" y="3124"/>
                </a:moveTo>
                <a:lnTo>
                  <a:pt x="440944" y="3124"/>
                </a:lnTo>
                <a:lnTo>
                  <a:pt x="440944" y="325793"/>
                </a:lnTo>
                <a:lnTo>
                  <a:pt x="467613" y="325793"/>
                </a:lnTo>
                <a:lnTo>
                  <a:pt x="467613" y="3124"/>
                </a:lnTo>
                <a:close/>
              </a:path>
              <a:path w="467995" h="330835">
                <a:moveTo>
                  <a:pt x="110617" y="0"/>
                </a:moveTo>
                <a:lnTo>
                  <a:pt x="106172" y="0"/>
                </a:lnTo>
                <a:lnTo>
                  <a:pt x="87074" y="1428"/>
                </a:lnTo>
                <a:lnTo>
                  <a:pt x="45212" y="18643"/>
                </a:lnTo>
                <a:lnTo>
                  <a:pt x="26344" y="55411"/>
                </a:lnTo>
                <a:lnTo>
                  <a:pt x="25134" y="75779"/>
                </a:lnTo>
                <a:lnTo>
                  <a:pt x="25278" y="79920"/>
                </a:lnTo>
                <a:lnTo>
                  <a:pt x="26050" y="87861"/>
                </a:lnTo>
                <a:lnTo>
                  <a:pt x="27322" y="96303"/>
                </a:lnTo>
                <a:lnTo>
                  <a:pt x="29082" y="105244"/>
                </a:lnTo>
                <a:lnTo>
                  <a:pt x="31876" y="117500"/>
                </a:lnTo>
                <a:lnTo>
                  <a:pt x="33147" y="125704"/>
                </a:lnTo>
                <a:lnTo>
                  <a:pt x="33147" y="137845"/>
                </a:lnTo>
                <a:lnTo>
                  <a:pt x="30480" y="144348"/>
                </a:lnTo>
                <a:lnTo>
                  <a:pt x="0" y="157429"/>
                </a:lnTo>
                <a:lnTo>
                  <a:pt x="0" y="171653"/>
                </a:lnTo>
                <a:lnTo>
                  <a:pt x="33147" y="191249"/>
                </a:lnTo>
                <a:lnTo>
                  <a:pt x="33147" y="203377"/>
                </a:lnTo>
                <a:lnTo>
                  <a:pt x="31876" y="211594"/>
                </a:lnTo>
                <a:lnTo>
                  <a:pt x="29082" y="223837"/>
                </a:lnTo>
                <a:lnTo>
                  <a:pt x="27322" y="232779"/>
                </a:lnTo>
                <a:lnTo>
                  <a:pt x="26050" y="241222"/>
                </a:lnTo>
                <a:lnTo>
                  <a:pt x="25278" y="249167"/>
                </a:lnTo>
                <a:lnTo>
                  <a:pt x="25134" y="253302"/>
                </a:lnTo>
                <a:lnTo>
                  <a:pt x="25018" y="256616"/>
                </a:lnTo>
                <a:lnTo>
                  <a:pt x="26281" y="274121"/>
                </a:lnTo>
                <a:lnTo>
                  <a:pt x="45212" y="312000"/>
                </a:lnTo>
                <a:lnTo>
                  <a:pt x="87074" y="329222"/>
                </a:lnTo>
                <a:lnTo>
                  <a:pt x="106172" y="330644"/>
                </a:lnTo>
                <a:lnTo>
                  <a:pt x="110617" y="330644"/>
                </a:lnTo>
                <a:lnTo>
                  <a:pt x="110617" y="317474"/>
                </a:lnTo>
                <a:lnTo>
                  <a:pt x="108076" y="317474"/>
                </a:lnTo>
                <a:lnTo>
                  <a:pt x="96192" y="316655"/>
                </a:lnTo>
                <a:lnTo>
                  <a:pt x="62466" y="296682"/>
                </a:lnTo>
                <a:lnTo>
                  <a:pt x="54482" y="259727"/>
                </a:lnTo>
                <a:lnTo>
                  <a:pt x="54586" y="256616"/>
                </a:lnTo>
                <a:lnTo>
                  <a:pt x="54697" y="253302"/>
                </a:lnTo>
                <a:lnTo>
                  <a:pt x="55340" y="246162"/>
                </a:lnTo>
                <a:lnTo>
                  <a:pt x="56411" y="238305"/>
                </a:lnTo>
                <a:lnTo>
                  <a:pt x="57912" y="229730"/>
                </a:lnTo>
                <a:lnTo>
                  <a:pt x="59485" y="221443"/>
                </a:lnTo>
                <a:lnTo>
                  <a:pt x="60594" y="214434"/>
                </a:lnTo>
                <a:lnTo>
                  <a:pt x="61251" y="208704"/>
                </a:lnTo>
                <a:lnTo>
                  <a:pt x="61468" y="204254"/>
                </a:lnTo>
                <a:lnTo>
                  <a:pt x="60920" y="197212"/>
                </a:lnTo>
                <a:lnTo>
                  <a:pt x="32131" y="166103"/>
                </a:lnTo>
                <a:lnTo>
                  <a:pt x="32131" y="162979"/>
                </a:lnTo>
                <a:lnTo>
                  <a:pt x="60920" y="131875"/>
                </a:lnTo>
                <a:lnTo>
                  <a:pt x="61400" y="125704"/>
                </a:lnTo>
                <a:lnTo>
                  <a:pt x="61468" y="124840"/>
                </a:lnTo>
                <a:lnTo>
                  <a:pt x="61251" y="120383"/>
                </a:lnTo>
                <a:lnTo>
                  <a:pt x="60594" y="114649"/>
                </a:lnTo>
                <a:lnTo>
                  <a:pt x="59485" y="107638"/>
                </a:lnTo>
                <a:lnTo>
                  <a:pt x="57912" y="99352"/>
                </a:lnTo>
                <a:lnTo>
                  <a:pt x="56411" y="90777"/>
                </a:lnTo>
                <a:lnTo>
                  <a:pt x="55340" y="82919"/>
                </a:lnTo>
                <a:lnTo>
                  <a:pt x="54697" y="75779"/>
                </a:lnTo>
                <a:lnTo>
                  <a:pt x="54587" y="72478"/>
                </a:lnTo>
                <a:lnTo>
                  <a:pt x="54482" y="69354"/>
                </a:lnTo>
                <a:lnTo>
                  <a:pt x="55350" y="55655"/>
                </a:lnTo>
                <a:lnTo>
                  <a:pt x="76519" y="20538"/>
                </a:lnTo>
                <a:lnTo>
                  <a:pt x="108076" y="13182"/>
                </a:lnTo>
                <a:lnTo>
                  <a:pt x="110617" y="13182"/>
                </a:lnTo>
                <a:lnTo>
                  <a:pt x="1106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38911" y="5181091"/>
            <a:ext cx="3917315" cy="1301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0">
                <a:latin typeface="Franklin Gothic Medium"/>
                <a:cs typeface="Franklin Gothic Medium"/>
              </a:rPr>
              <a:t>Context-</a:t>
            </a:r>
            <a:r>
              <a:rPr dirty="0" sz="2800">
                <a:latin typeface="Franklin Gothic Medium"/>
                <a:cs typeface="Franklin Gothic Medium"/>
              </a:rPr>
              <a:t>Free</a:t>
            </a:r>
            <a:r>
              <a:rPr dirty="0" sz="2800" spc="-9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Grammars:</a:t>
            </a:r>
            <a:endParaRPr sz="2800">
              <a:latin typeface="Franklin Gothic Medium"/>
              <a:cs typeface="Franklin Gothic Medium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800">
              <a:latin typeface="Franklin Gothic Medium"/>
              <a:cs typeface="Franklin Gothic Medium"/>
            </a:endParaRPr>
          </a:p>
          <a:p>
            <a:pPr marL="12700">
              <a:lnSpc>
                <a:spcPct val="100000"/>
              </a:lnSpc>
              <a:tabLst>
                <a:tab pos="2196465" algn="l"/>
                <a:tab pos="2664460" algn="l"/>
                <a:tab pos="3041015" algn="l"/>
                <a:tab pos="3439795" algn="l"/>
              </a:tabLst>
            </a:pPr>
            <a:r>
              <a:rPr dirty="0" sz="2800">
                <a:latin typeface="Franklin Gothic Medium"/>
                <a:cs typeface="Franklin Gothic Medium"/>
              </a:rPr>
              <a:t>Set</a:t>
            </a:r>
            <a:r>
              <a:rPr dirty="0" sz="2800" spc="-75">
                <a:latin typeface="Franklin Gothic Medium"/>
                <a:cs typeface="Franklin Gothic Medium"/>
              </a:rPr>
              <a:t> </a:t>
            </a:r>
            <a:r>
              <a:rPr dirty="0" sz="2800" spc="-10">
                <a:latin typeface="Franklin Gothic Medium"/>
                <a:cs typeface="Franklin Gothic Medium"/>
              </a:rPr>
              <a:t>Notation:</a:t>
            </a:r>
            <a:r>
              <a:rPr dirty="0" sz="2800">
                <a:latin typeface="Franklin Gothic Medium"/>
                <a:cs typeface="Franklin Gothic Medium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𝑥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𝑥</a:t>
            </a:r>
            <a:r>
              <a:rPr dirty="0" sz="2800">
                <a:latin typeface="Cambria Math"/>
                <a:cs typeface="Cambria Math"/>
              </a:rPr>
              <a:t>	</a:t>
            </a:r>
            <a:r>
              <a:rPr dirty="0" sz="2800" spc="-50">
                <a:latin typeface="Cambria Math"/>
                <a:cs typeface="Cambria Math"/>
              </a:rPr>
              <a:t>∈</a:t>
            </a:r>
            <a:r>
              <a:rPr dirty="0" sz="2800">
                <a:latin typeface="Cambria Math"/>
                <a:cs typeface="Cambria Math"/>
              </a:rPr>
              <a:t>	…</a:t>
            </a:r>
            <a:r>
              <a:rPr dirty="0" sz="2800" spc="-165">
                <a:latin typeface="Cambria Math"/>
                <a:cs typeface="Cambria Math"/>
              </a:rPr>
              <a:t> </a:t>
            </a:r>
            <a:r>
              <a:rPr dirty="0" sz="2800" spc="-50">
                <a:latin typeface="Cambria Math"/>
                <a:cs typeface="Cambria Math"/>
              </a:rPr>
              <a:t>}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1074145" y="6431381"/>
            <a:ext cx="19621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888888"/>
                </a:solidFill>
                <a:latin typeface="Franklin Gothic Medium"/>
                <a:cs typeface="Franklin Gothic Medium"/>
              </a:rPr>
              <a:t>16</a:t>
            </a:r>
            <a:endParaRPr sz="120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Jeronimo Grandi</dc:creator>
  <dc:title>PowerPoint Presentation</dc:title>
  <dcterms:created xsi:type="dcterms:W3CDTF">2025-02-25T14:54:26Z</dcterms:created>
  <dcterms:modified xsi:type="dcterms:W3CDTF">2025-02-25T14:54:26Z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2023-08-15T00:00:00Z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2025-02-25T00:00:00Z</vt:filetime>
  </property>
  <property fmtid="{D5CDD505-2E9C-101B-9397-08002B2CF9AE}" pid="5" name="MSIP_Label_a2761ec8-7198-4440-bea0-e9dd2af28b51_ContentBits">
    <vt:lpwstr>0</vt:lpwstr>
  </property>
  <property fmtid="{D5CDD505-2E9C-101B-9397-08002B2CF9AE}" pid="6" name="MSIP_Label_a2761ec8-7198-4440-bea0-e9dd2af28b51_Enabled">
    <vt:lpwstr>true</vt:lpwstr>
  </property>
  <property fmtid="{D5CDD505-2E9C-101B-9397-08002B2CF9AE}" pid="7" name="MSIP_Label_a2761ec8-7198-4440-bea0-e9dd2af28b51_Method">
    <vt:lpwstr>Standard</vt:lpwstr>
  </property>
  <property fmtid="{D5CDD505-2E9C-101B-9397-08002B2CF9AE}" pid="8" name="MSIP_Label_a2761ec8-7198-4440-bea0-e9dd2af28b51_SiteId">
    <vt:lpwstr>73e15cf5-5dbb-46af-a862-753916269d73</vt:lpwstr>
  </property>
  <property fmtid="{D5CDD505-2E9C-101B-9397-08002B2CF9AE}" pid="9" name="Producer">
    <vt:lpwstr>Microsoft® PowerPoint® for Microsoft 365</vt:lpwstr>
  </property>
</Properties>
</file>