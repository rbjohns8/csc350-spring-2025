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940" autoAdjust="0"/>
  </p:normalViewPr>
  <p:slideViewPr>
    <p:cSldViewPr snapToGrid="0">
      <p:cViewPr varScale="1">
        <p:scale>
          <a:sx n="80" d="100"/>
          <a:sy n="80" d="100"/>
        </p:scale>
        <p:origin x="9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0ED38-BD92-4180-96D0-ED2F20FD832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5F0C6-756D-4557-9F05-8D18F8C0E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008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is a subset of B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5F0C6-756D-4557-9F05-8D18F8C0EAC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96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Null or empty set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5F0C6-756D-4557-9F05-8D18F8C0EA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05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“Omega” be the set containing all sets that do not contain themselves.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5F0C6-756D-4557-9F05-8D18F8C0EA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603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union of two sets A and B is the set containing all the elements in A as well as all the elements in B.</a:t>
            </a:r>
          </a:p>
          <a:p>
            <a:endParaRPr lang="en-US" dirty="0"/>
          </a:p>
          <a:p>
            <a:r>
              <a:rPr lang="en-US" dirty="0"/>
              <a:t>Properties of the Union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en-US" sz="1200" i="1" dirty="0">
                <a:solidFill>
                  <a:srgbClr val="000000"/>
                </a:solidFill>
              </a:rPr>
              <a:t>A</a:t>
            </a:r>
            <a:r>
              <a:rPr lang="en-US" altLang="en-US" sz="1200" dirty="0">
                <a:solidFill>
                  <a:srgbClr val="000000"/>
                </a:solidFill>
              </a:rPr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∪</a:t>
            </a:r>
            <a:r>
              <a:rPr lang="en-US" altLang="en-US" sz="1200" dirty="0">
                <a:solidFill>
                  <a:srgbClr val="000000"/>
                </a:solidFill>
              </a:rPr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Ø = </a:t>
            </a:r>
            <a:r>
              <a:rPr lang="en-US" b="0" i="1" dirty="0">
                <a:solidFill>
                  <a:srgbClr val="46464A"/>
                </a:solidFill>
                <a:effectLst/>
                <a:latin typeface="Inter"/>
              </a:rPr>
              <a:t>A</a:t>
            </a:r>
            <a:endParaRPr lang="en-US" sz="1200" b="0" i="1" dirty="0">
              <a:solidFill>
                <a:schemeClr val="tx1"/>
              </a:solidFill>
              <a:effectLst/>
              <a:latin typeface="Inte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en-US" sz="1200" i="1" dirty="0">
                <a:solidFill>
                  <a:srgbClr val="000000"/>
                </a:solidFill>
              </a:rPr>
              <a:t>A</a:t>
            </a:r>
            <a:r>
              <a:rPr lang="en-US" altLang="en-US" sz="1200" dirty="0">
                <a:solidFill>
                  <a:srgbClr val="000000"/>
                </a:solidFill>
              </a:rPr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∪</a:t>
            </a:r>
            <a:r>
              <a:rPr lang="en-US" altLang="en-US" sz="1200" dirty="0">
                <a:solidFill>
                  <a:srgbClr val="000000"/>
                </a:solidFill>
              </a:rPr>
              <a:t> </a:t>
            </a:r>
            <a:r>
              <a:rPr lang="en-US" b="0" i="1" dirty="0">
                <a:solidFill>
                  <a:srgbClr val="46464A"/>
                </a:solidFill>
                <a:effectLst/>
                <a:latin typeface="Inter"/>
              </a:rPr>
              <a:t>A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 = </a:t>
            </a:r>
            <a:r>
              <a:rPr lang="en-US" b="0" i="1" dirty="0">
                <a:solidFill>
                  <a:srgbClr val="46464A"/>
                </a:solidFill>
                <a:effectLst/>
                <a:latin typeface="Inter"/>
              </a:rPr>
              <a:t>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If A</a:t>
            </a:r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⊂ B, then </a:t>
            </a:r>
            <a:r>
              <a:rPr lang="en-US" altLang="en-US" sz="1200" i="1" dirty="0">
                <a:solidFill>
                  <a:srgbClr val="000000"/>
                </a:solidFill>
              </a:rPr>
              <a:t>A</a:t>
            </a:r>
            <a:r>
              <a:rPr lang="en-US" altLang="en-US" sz="1200" dirty="0">
                <a:solidFill>
                  <a:srgbClr val="000000"/>
                </a:solidFill>
              </a:rPr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∪</a:t>
            </a:r>
            <a:r>
              <a:rPr lang="en-US" altLang="en-US" sz="1200" dirty="0">
                <a:solidFill>
                  <a:srgbClr val="000000"/>
                </a:solidFill>
              </a:rPr>
              <a:t> </a:t>
            </a:r>
            <a:r>
              <a:rPr lang="en-US" altLang="en-US" sz="1200" i="1" dirty="0">
                <a:solidFill>
                  <a:srgbClr val="000000"/>
                </a:solidFill>
              </a:rPr>
              <a:t>B = B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en-US" sz="1200" i="1" dirty="0">
                <a:solidFill>
                  <a:srgbClr val="000000"/>
                </a:solidFill>
              </a:rPr>
              <a:t>A</a:t>
            </a:r>
            <a:r>
              <a:rPr lang="en-US" altLang="en-US" sz="1200" dirty="0">
                <a:solidFill>
                  <a:srgbClr val="000000"/>
                </a:solidFill>
              </a:rPr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∪</a:t>
            </a:r>
            <a:r>
              <a:rPr lang="en-US" altLang="en-US" sz="1200" dirty="0">
                <a:solidFill>
                  <a:srgbClr val="000000"/>
                </a:solidFill>
              </a:rPr>
              <a:t> </a:t>
            </a:r>
            <a:r>
              <a:rPr lang="en-US" altLang="en-US" sz="1200" b="0" i="1" dirty="0">
                <a:solidFill>
                  <a:srgbClr val="46464A"/>
                </a:solidFill>
                <a:effectLst/>
                <a:latin typeface="Inter"/>
              </a:rPr>
              <a:t>B = B</a:t>
            </a:r>
            <a:r>
              <a:rPr lang="en-US" altLang="en-US" sz="1200" dirty="0">
                <a:solidFill>
                  <a:srgbClr val="000000"/>
                </a:solidFill>
              </a:rPr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∪</a:t>
            </a:r>
            <a:r>
              <a:rPr lang="en-US" altLang="en-US" sz="1200" dirty="0">
                <a:solidFill>
                  <a:srgbClr val="000000"/>
                </a:solidFill>
              </a:rPr>
              <a:t> </a:t>
            </a:r>
            <a:r>
              <a:rPr lang="en-US" b="0" i="1" dirty="0">
                <a:solidFill>
                  <a:srgbClr val="46464A"/>
                </a:solidFill>
                <a:effectLst/>
                <a:latin typeface="Inter"/>
              </a:rPr>
              <a:t>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="0" i="1" dirty="0">
                <a:solidFill>
                  <a:srgbClr val="46464A"/>
                </a:solidFill>
                <a:effectLst/>
                <a:latin typeface="Inter"/>
              </a:rPr>
              <a:t>A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∪ (B ∪ C) = (A ∪ B) ∪ 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1" dirty="0">
              <a:solidFill>
                <a:srgbClr val="46464A"/>
              </a:solidFill>
              <a:effectLst/>
              <a:latin typeface="Inte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en-US" sz="1200" i="1" dirty="0">
              <a:solidFill>
                <a:srgbClr val="00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5F0C6-756D-4557-9F05-8D18F8C0EA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11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intersection of sets A and B is the set containing elements that are in both A and B.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Properties of the Union</a:t>
            </a:r>
          </a:p>
          <a:p>
            <a:pPr marL="228600" indent="-228600">
              <a:buAutoNum type="arabicPeriod"/>
            </a:pPr>
            <a:r>
              <a:rPr lang="en-US" dirty="0"/>
              <a:t>A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∩ Ø = Ø</a:t>
            </a:r>
          </a:p>
          <a:p>
            <a:pPr marL="228600" indent="-228600">
              <a:buAutoNum type="arabicPeriod"/>
            </a:pPr>
            <a:r>
              <a:rPr lang="en-US" dirty="0"/>
              <a:t>A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∩ A = </a:t>
            </a:r>
            <a:r>
              <a:rPr lang="en-US" dirty="0"/>
              <a:t>A</a:t>
            </a:r>
          </a:p>
          <a:p>
            <a:pPr marL="228600" indent="-228600">
              <a:buAutoNum type="arabicPeriod"/>
            </a:pPr>
            <a:r>
              <a:rPr lang="en-US" dirty="0"/>
              <a:t>If A</a:t>
            </a:r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⊂ B, then A ∩ B = A</a:t>
            </a:r>
          </a:p>
          <a:p>
            <a:pPr marL="228600" indent="-228600">
              <a:buAutoNum type="arabicPeriod"/>
            </a:pPr>
            <a:r>
              <a:rPr lang="en-US" dirty="0"/>
              <a:t>A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∩ B = B</a:t>
            </a:r>
            <a:r>
              <a:rPr lang="en-US" dirty="0"/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∩ A</a:t>
            </a:r>
          </a:p>
          <a:p>
            <a:pPr marL="228600" indent="-228600">
              <a:buAutoNum type="arabicPeriod"/>
            </a:pPr>
            <a:r>
              <a:rPr lang="en-US" dirty="0"/>
              <a:t>A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∩ (B</a:t>
            </a:r>
            <a:r>
              <a:rPr lang="en-US" dirty="0"/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∩ C) = (</a:t>
            </a:r>
            <a:r>
              <a:rPr lang="en-US" dirty="0"/>
              <a:t>A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∩ B)</a:t>
            </a:r>
            <a:r>
              <a:rPr lang="en-US" dirty="0"/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∩ C </a:t>
            </a:r>
            <a:endParaRPr lang="en-US" dirty="0"/>
          </a:p>
          <a:p>
            <a:endParaRPr lang="en-US" dirty="0"/>
          </a:p>
          <a:p>
            <a:r>
              <a:rPr lang="en-US" dirty="0"/>
              <a:t>Let A = {0, 1} and B = {1, 2, 3}</a:t>
            </a:r>
          </a:p>
          <a:p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What is A union B? 	{0, 1, 2, 3}</a:t>
            </a:r>
          </a:p>
          <a:p>
            <a:pPr marL="228600" indent="-228600">
              <a:buAutoNum type="arabicParenR"/>
            </a:pPr>
            <a:r>
              <a:rPr lang="en-US" dirty="0"/>
              <a:t>What is A intersect B? 	{1}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A be all the odd natural numbers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Let B be all the even natural numbers</a:t>
            </a:r>
          </a:p>
          <a:p>
            <a:pPr marL="0" indent="0">
              <a:buNone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What is A union B? 	All natural numbers</a:t>
            </a:r>
          </a:p>
          <a:p>
            <a:pPr marL="228600" indent="-228600">
              <a:buAutoNum type="arabicParenR"/>
            </a:pPr>
            <a:r>
              <a:rPr lang="en-US" dirty="0"/>
              <a:t>What is A intersect B? 	The empty set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5F0C6-756D-4557-9F05-8D18F8C0EAC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776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set-theoretic difference of two sets </a:t>
            </a:r>
            <a:r>
              <a:rPr lang="en-US" i="1" u="none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is the set of all elements in </a:t>
            </a:r>
            <a:r>
              <a:rPr lang="en-US" i="1" dirty="0"/>
              <a:t>A</a:t>
            </a:r>
            <a:r>
              <a:rPr lang="en-US" dirty="0"/>
              <a:t> that are not in </a:t>
            </a:r>
            <a:r>
              <a:rPr lang="en-US" i="1" dirty="0"/>
              <a:t>B</a:t>
            </a:r>
            <a:r>
              <a:rPr lang="en-US" dirty="0"/>
              <a:t>.</a:t>
            </a:r>
          </a:p>
          <a:p>
            <a:r>
              <a:rPr lang="en-US" dirty="0"/>
              <a:t>If </a:t>
            </a:r>
            <a:r>
              <a:rPr lang="en-US" i="1" u="none" dirty="0"/>
              <a:t>A</a:t>
            </a:r>
            <a:r>
              <a:rPr lang="en-US" dirty="0"/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⊂ </a:t>
            </a:r>
            <a:r>
              <a:rPr lang="en-US" b="0" i="1" u="none" dirty="0">
                <a:solidFill>
                  <a:srgbClr val="46464A"/>
                </a:solidFill>
                <a:effectLst/>
                <a:latin typeface="Inter"/>
              </a:rPr>
              <a:t>B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, the set-theoretic difference of </a:t>
            </a:r>
            <a:r>
              <a:rPr lang="en-US" b="0" i="1" dirty="0">
                <a:solidFill>
                  <a:srgbClr val="46464A"/>
                </a:solidFill>
                <a:effectLst/>
                <a:latin typeface="Inter"/>
              </a:rPr>
              <a:t>A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 and </a:t>
            </a:r>
            <a:r>
              <a:rPr lang="en-US" b="0" i="1" dirty="0">
                <a:solidFill>
                  <a:srgbClr val="46464A"/>
                </a:solidFill>
                <a:effectLst/>
                <a:latin typeface="Inter"/>
              </a:rPr>
              <a:t>B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 is called the complement of </a:t>
            </a:r>
            <a:r>
              <a:rPr lang="en-US" b="0" i="1" dirty="0">
                <a:solidFill>
                  <a:srgbClr val="46464A"/>
                </a:solidFill>
                <a:effectLst/>
                <a:latin typeface="Inter"/>
              </a:rPr>
              <a:t>B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 with respect to </a:t>
            </a:r>
            <a:r>
              <a:rPr lang="en-US" b="0" i="1" dirty="0">
                <a:solidFill>
                  <a:srgbClr val="46464A"/>
                </a:solidFill>
                <a:effectLst/>
                <a:latin typeface="Inter"/>
              </a:rPr>
              <a:t>A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.</a:t>
            </a:r>
            <a:endParaRPr lang="en-US" dirty="0"/>
          </a:p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 complementary relation is the set complement of </a:t>
            </a:r>
            <a:r>
              <a:rPr lang="en-US" b="0" i="1" u="non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Let </a:t>
            </a:r>
            <a:r>
              <a:rPr lang="en-US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en-US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be subsets of the universal set </a:t>
            </a:r>
            <a:r>
              <a:rPr lang="en-US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Properties:</a:t>
            </a:r>
          </a:p>
          <a:p>
            <a:pPr marL="228600" indent="-228600">
              <a:buAutoNum type="arabicPeriod"/>
            </a:pPr>
            <a:r>
              <a:rPr lang="en-US" b="0" i="0" dirty="0" err="1">
                <a:solidFill>
                  <a:srgbClr val="46464A"/>
                </a:solidFill>
                <a:effectLst/>
                <a:latin typeface="Inter"/>
              </a:rPr>
              <a:t>Ø</a:t>
            </a:r>
            <a:r>
              <a:rPr lang="en-US" b="0" i="0" baseline="30000" dirty="0" err="1">
                <a:solidFill>
                  <a:srgbClr val="46464A"/>
                </a:solidFill>
                <a:effectLst/>
                <a:latin typeface="Inter"/>
              </a:rPr>
              <a:t>c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 = </a:t>
            </a:r>
            <a:r>
              <a:rPr lang="en-US" b="0" i="1" dirty="0">
                <a:solidFill>
                  <a:srgbClr val="46464A"/>
                </a:solidFill>
                <a:effectLst/>
                <a:latin typeface="Inter"/>
              </a:rPr>
              <a:t>S</a:t>
            </a:r>
          </a:p>
          <a:p>
            <a:pPr marL="228600" indent="-228600">
              <a:buAutoNum type="arabicPeriod"/>
            </a:pP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S</a:t>
            </a:r>
            <a:r>
              <a:rPr lang="en-US" b="0" i="0" baseline="30000" dirty="0">
                <a:solidFill>
                  <a:srgbClr val="46464A"/>
                </a:solidFill>
                <a:effectLst/>
                <a:latin typeface="Inter"/>
              </a:rPr>
              <a:t>c</a:t>
            </a:r>
            <a:r>
              <a:rPr lang="en-US" b="0" i="1" dirty="0">
                <a:solidFill>
                  <a:srgbClr val="46464A"/>
                </a:solidFill>
                <a:effectLst/>
                <a:latin typeface="Inter"/>
              </a:rPr>
              <a:t> =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Ø</a:t>
            </a:r>
          </a:p>
          <a:p>
            <a:pPr marL="228600" indent="-228600">
              <a:buAutoNum type="arabicPeriod"/>
            </a:pP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(</a:t>
            </a:r>
            <a:r>
              <a:rPr lang="en-US" b="0" i="1" dirty="0">
                <a:solidFill>
                  <a:srgbClr val="46464A"/>
                </a:solidFill>
                <a:effectLst/>
                <a:latin typeface="Inter"/>
              </a:rPr>
              <a:t>A</a:t>
            </a:r>
            <a:r>
              <a:rPr lang="en-US" b="0" i="0" baseline="30000" dirty="0">
                <a:solidFill>
                  <a:srgbClr val="46464A"/>
                </a:solidFill>
                <a:effectLst/>
                <a:latin typeface="Inter"/>
              </a:rPr>
              <a:t>c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)</a:t>
            </a:r>
            <a:r>
              <a:rPr lang="en-US" b="0" i="0" baseline="30000" dirty="0">
                <a:solidFill>
                  <a:srgbClr val="46464A"/>
                </a:solidFill>
                <a:effectLst/>
                <a:latin typeface="Inter"/>
              </a:rPr>
              <a:t> c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 = </a:t>
            </a:r>
            <a:r>
              <a:rPr lang="en-US" b="0" i="1" dirty="0">
                <a:solidFill>
                  <a:srgbClr val="46464A"/>
                </a:solidFill>
                <a:effectLst/>
                <a:latin typeface="Inter"/>
              </a:rPr>
              <a:t>A</a:t>
            </a:r>
          </a:p>
          <a:p>
            <a:pPr marL="228600" indent="-228600">
              <a:buAutoNum type="arabicPeriod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If </a:t>
            </a:r>
            <a:r>
              <a:rPr lang="en-US" dirty="0" err="1"/>
              <a:t>If</a:t>
            </a:r>
            <a:r>
              <a:rPr lang="en-US" dirty="0"/>
              <a:t> A</a:t>
            </a:r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⊂ B, then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</a:t>
            </a:r>
            <a:r>
              <a:rPr lang="en-US" b="0" i="0" baseline="30000" dirty="0" err="1">
                <a:solidFill>
                  <a:srgbClr val="46464A"/>
                </a:solidFill>
                <a:effectLst/>
                <a:latin typeface="Inter"/>
              </a:rPr>
              <a:t>c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⊂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A</a:t>
            </a:r>
            <a:r>
              <a:rPr lang="en-US" b="0" i="0" baseline="30000" dirty="0">
                <a:solidFill>
                  <a:srgbClr val="46464A"/>
                </a:solidFill>
                <a:effectLst/>
                <a:latin typeface="Inter"/>
              </a:rPr>
              <a:t>c</a:t>
            </a:r>
            <a:endParaRPr lang="en-US" b="0" i="1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en-US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5F0C6-756D-4557-9F05-8D18F8C0EA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48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and B are subsets of the universal set S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∪ </a:t>
            </a:r>
            <a:r>
              <a:rPr lang="en-US" b="0" i="1" dirty="0">
                <a:solidFill>
                  <a:srgbClr val="46464A"/>
                </a:solidFill>
                <a:effectLst/>
                <a:latin typeface="Inter"/>
              </a:rPr>
              <a:t>B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)</a:t>
            </a:r>
            <a:r>
              <a:rPr lang="en-US" b="0" i="0" baseline="30000" dirty="0">
                <a:solidFill>
                  <a:srgbClr val="46464A"/>
                </a:solidFill>
                <a:effectLst/>
                <a:latin typeface="Inter"/>
              </a:rPr>
              <a:t>c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 = </a:t>
            </a:r>
            <a:r>
              <a:rPr lang="en-US" i="1" dirty="0"/>
              <a:t>A</a:t>
            </a:r>
            <a:r>
              <a:rPr lang="en-US" b="0" i="0" baseline="30000" dirty="0">
                <a:solidFill>
                  <a:srgbClr val="46464A"/>
                </a:solidFill>
                <a:effectLst/>
                <a:latin typeface="Inter"/>
              </a:rPr>
              <a:t>c</a:t>
            </a:r>
            <a:r>
              <a:rPr lang="en-US" dirty="0"/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∩ </a:t>
            </a:r>
            <a:r>
              <a:rPr lang="en-US" b="0" i="1" dirty="0" err="1">
                <a:solidFill>
                  <a:srgbClr val="46464A"/>
                </a:solidFill>
                <a:effectLst/>
                <a:latin typeface="Inter"/>
              </a:rPr>
              <a:t>B</a:t>
            </a:r>
            <a:r>
              <a:rPr lang="en-US" b="0" i="0" baseline="30000" dirty="0" err="1">
                <a:solidFill>
                  <a:srgbClr val="46464A"/>
                </a:solidFill>
                <a:effectLst/>
                <a:latin typeface="Inter"/>
              </a:rPr>
              <a:t>c</a:t>
            </a:r>
            <a:endParaRPr lang="en-US" b="0" i="0" dirty="0">
              <a:solidFill>
                <a:srgbClr val="46464A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∩ </a:t>
            </a:r>
            <a:r>
              <a:rPr lang="en-US" b="0" i="1" dirty="0">
                <a:solidFill>
                  <a:srgbClr val="46464A"/>
                </a:solidFill>
                <a:effectLst/>
                <a:latin typeface="Inter"/>
              </a:rPr>
              <a:t>B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)</a:t>
            </a:r>
            <a:r>
              <a:rPr lang="en-US" b="0" i="0" baseline="30000" dirty="0">
                <a:solidFill>
                  <a:srgbClr val="46464A"/>
                </a:solidFill>
                <a:effectLst/>
                <a:latin typeface="Inter"/>
              </a:rPr>
              <a:t>c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 = </a:t>
            </a:r>
            <a:r>
              <a:rPr lang="en-US" i="1" dirty="0"/>
              <a:t>A</a:t>
            </a:r>
            <a:r>
              <a:rPr lang="en-US" b="0" i="0" baseline="30000" dirty="0">
                <a:solidFill>
                  <a:srgbClr val="46464A"/>
                </a:solidFill>
                <a:effectLst/>
                <a:latin typeface="Inter"/>
              </a:rPr>
              <a:t>c</a:t>
            </a:r>
            <a:r>
              <a:rPr lang="en-US" dirty="0"/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∪ </a:t>
            </a:r>
            <a:r>
              <a:rPr lang="en-US" b="0" i="1" dirty="0" err="1">
                <a:solidFill>
                  <a:srgbClr val="46464A"/>
                </a:solidFill>
                <a:effectLst/>
                <a:latin typeface="Inter"/>
              </a:rPr>
              <a:t>B</a:t>
            </a:r>
            <a:r>
              <a:rPr lang="en-US" b="0" i="0" baseline="30000" dirty="0" err="1">
                <a:solidFill>
                  <a:srgbClr val="46464A"/>
                </a:solidFill>
                <a:effectLst/>
                <a:latin typeface="Inter"/>
              </a:rPr>
              <a:t>c</a:t>
            </a:r>
            <a:endParaRPr lang="en-US" b="0" i="0" dirty="0">
              <a:solidFill>
                <a:srgbClr val="46464A"/>
              </a:solidFill>
              <a:effectLst/>
              <a:latin typeface="Inter"/>
            </a:endParaRPr>
          </a:p>
          <a:p>
            <a:endParaRPr lang="en-US" dirty="0"/>
          </a:p>
          <a:p>
            <a:r>
              <a:rPr lang="en-US" dirty="0"/>
              <a:t>Example.</a:t>
            </a:r>
          </a:p>
          <a:p>
            <a:endParaRPr lang="en-US" dirty="0"/>
          </a:p>
          <a:p>
            <a:r>
              <a:rPr lang="en-US" dirty="0"/>
              <a:t>Let S be the set of all animals.</a:t>
            </a:r>
          </a:p>
          <a:p>
            <a:r>
              <a:rPr lang="en-US" dirty="0"/>
              <a:t>Let A be the set of dogs.</a:t>
            </a:r>
          </a:p>
          <a:p>
            <a:r>
              <a:rPr lang="en-US" dirty="0"/>
              <a:t>Let B be the set of cats.</a:t>
            </a:r>
          </a:p>
          <a:p>
            <a:endParaRPr lang="en-US" dirty="0"/>
          </a:p>
          <a:p>
            <a:r>
              <a:rPr lang="en-US" dirty="0"/>
              <a:t>(Dogs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∪</a:t>
            </a:r>
            <a:r>
              <a:rPr lang="en-US" dirty="0"/>
              <a:t> Cats)</a:t>
            </a:r>
            <a:r>
              <a:rPr lang="en-US" b="0" i="0" baseline="30000" dirty="0">
                <a:solidFill>
                  <a:srgbClr val="46464A"/>
                </a:solidFill>
                <a:effectLst/>
                <a:latin typeface="Inter"/>
              </a:rPr>
              <a:t>c</a:t>
            </a:r>
            <a:r>
              <a:rPr lang="en-US" dirty="0"/>
              <a:t> = </a:t>
            </a:r>
            <a:r>
              <a:rPr lang="en-US" dirty="0" err="1"/>
              <a:t>Dogs</a:t>
            </a:r>
            <a:r>
              <a:rPr lang="en-US" b="0" i="0" baseline="30000" dirty="0" err="1">
                <a:solidFill>
                  <a:srgbClr val="46464A"/>
                </a:solidFill>
                <a:effectLst/>
                <a:latin typeface="Inter"/>
              </a:rPr>
              <a:t>c</a:t>
            </a:r>
            <a:r>
              <a:rPr lang="en-US" dirty="0"/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∪</a:t>
            </a:r>
            <a:r>
              <a:rPr lang="en-US" dirty="0"/>
              <a:t> </a:t>
            </a:r>
            <a:r>
              <a:rPr lang="en-US" dirty="0" err="1"/>
              <a:t>Cats</a:t>
            </a:r>
            <a:r>
              <a:rPr lang="en-US" b="0" i="0" baseline="30000" dirty="0" err="1">
                <a:solidFill>
                  <a:srgbClr val="46464A"/>
                </a:solidFill>
                <a:effectLst/>
                <a:latin typeface="Inter"/>
              </a:rPr>
              <a:t>c</a:t>
            </a:r>
            <a:endParaRPr lang="en-US" dirty="0"/>
          </a:p>
          <a:p>
            <a:endParaRPr lang="en-US" dirty="0"/>
          </a:p>
          <a:p>
            <a:r>
              <a:rPr lang="en-US" dirty="0"/>
              <a:t>“Animals that are neither dogs nor cats are not dogs and are not cats”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5F0C6-756D-4557-9F05-8D18F8C0EAC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03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LcParenR"/>
            </a:pPr>
            <a:r>
              <a:rPr lang="en-US" altLang="en-US" sz="1200" i="1" dirty="0">
                <a:solidFill>
                  <a:srgbClr val="000000"/>
                </a:solidFill>
              </a:rPr>
              <a:t>A</a:t>
            </a:r>
            <a:r>
              <a:rPr lang="en-US" altLang="en-US" sz="1200" dirty="0">
                <a:solidFill>
                  <a:srgbClr val="000000"/>
                </a:solidFill>
              </a:rPr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∪</a:t>
            </a:r>
            <a:r>
              <a:rPr lang="en-US" altLang="en-US" sz="1200" dirty="0">
                <a:solidFill>
                  <a:srgbClr val="000000"/>
                </a:solidFill>
              </a:rPr>
              <a:t> </a:t>
            </a:r>
            <a:r>
              <a:rPr lang="en-US" altLang="en-US" sz="1200" b="0" i="1" dirty="0">
                <a:solidFill>
                  <a:srgbClr val="46464A"/>
                </a:solidFill>
                <a:effectLst/>
                <a:latin typeface="Inter"/>
              </a:rPr>
              <a:t>B</a:t>
            </a:r>
            <a:r>
              <a:rPr lang="en-US" altLang="en-US" sz="1200" b="0" i="0" dirty="0">
                <a:solidFill>
                  <a:srgbClr val="46464A"/>
                </a:solidFill>
                <a:effectLst/>
                <a:latin typeface="Inter"/>
              </a:rPr>
              <a:t> = {1, 2, 4, 6}</a:t>
            </a:r>
          </a:p>
          <a:p>
            <a:pPr marL="228600" indent="-228600">
              <a:buAutoNum type="alphaLcParenR"/>
            </a:pP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sz="12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∩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 </a:t>
            </a:r>
            <a:r>
              <a:rPr lang="en-US" b="0" i="1" dirty="0">
                <a:solidFill>
                  <a:srgbClr val="46464A"/>
                </a:solidFill>
                <a:effectLst/>
                <a:latin typeface="Inter"/>
              </a:rPr>
              <a:t>B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 = {2}</a:t>
            </a:r>
          </a:p>
          <a:p>
            <a:pPr marL="228600" indent="-228600">
              <a:buAutoNum type="alphaLcParenR"/>
            </a:pPr>
            <a:r>
              <a:rPr lang="en-US" b="0" i="1" dirty="0">
                <a:solidFill>
                  <a:srgbClr val="46464A"/>
                </a:solidFill>
                <a:effectLst/>
                <a:latin typeface="Inter"/>
              </a:rPr>
              <a:t>A</a:t>
            </a:r>
            <a:r>
              <a:rPr lang="en-US" b="0" i="0" baseline="30000" dirty="0">
                <a:solidFill>
                  <a:srgbClr val="46464A"/>
                </a:solidFill>
                <a:effectLst/>
                <a:latin typeface="Inter"/>
              </a:rPr>
              <a:t>c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 = {3, 4, 5, 6} </a:t>
            </a:r>
          </a:p>
          <a:p>
            <a:pPr marL="228600" indent="-228600">
              <a:buAutoNum type="alphaLcParenR"/>
            </a:pPr>
            <a:r>
              <a:rPr lang="en-US" b="0" i="1" dirty="0" err="1">
                <a:solidFill>
                  <a:srgbClr val="46464A"/>
                </a:solidFill>
                <a:effectLst/>
                <a:latin typeface="Inter"/>
              </a:rPr>
              <a:t>B</a:t>
            </a:r>
            <a:r>
              <a:rPr lang="en-US" b="0" i="0" baseline="30000" dirty="0" err="1">
                <a:solidFill>
                  <a:srgbClr val="46464A"/>
                </a:solidFill>
                <a:effectLst/>
                <a:latin typeface="Inter"/>
              </a:rPr>
              <a:t>c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 = {1, 3, 5}</a:t>
            </a:r>
          </a:p>
          <a:p>
            <a:pPr marL="228600" indent="-228600">
              <a:buFont typeface="+mj-lt"/>
              <a:buAutoNum type="alphaLcParenR" startAt="6"/>
            </a:pPr>
            <a:r>
              <a:rPr lang="en-US" altLang="en-US" sz="1200" i="0" dirty="0">
                <a:solidFill>
                  <a:srgbClr val="000000"/>
                </a:solidFill>
              </a:rPr>
              <a:t>(</a:t>
            </a:r>
            <a:r>
              <a:rPr lang="en-US" altLang="en-US" sz="1200" i="1" dirty="0">
                <a:solidFill>
                  <a:srgbClr val="000000"/>
                </a:solidFill>
              </a:rPr>
              <a:t>A</a:t>
            </a:r>
            <a:r>
              <a:rPr lang="en-US" altLang="en-US" sz="1200" dirty="0">
                <a:solidFill>
                  <a:srgbClr val="000000"/>
                </a:solidFill>
              </a:rPr>
              <a:t>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∪</a:t>
            </a:r>
            <a:r>
              <a:rPr lang="en-US" altLang="en-US" sz="1200" dirty="0">
                <a:solidFill>
                  <a:srgbClr val="000000"/>
                </a:solidFill>
              </a:rPr>
              <a:t> </a:t>
            </a:r>
            <a:r>
              <a:rPr lang="en-US" altLang="en-US" sz="1200" b="0" i="1" dirty="0">
                <a:solidFill>
                  <a:srgbClr val="46464A"/>
                </a:solidFill>
                <a:effectLst/>
                <a:latin typeface="Inter"/>
              </a:rPr>
              <a:t>B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)</a:t>
            </a:r>
            <a:r>
              <a:rPr lang="en-US" b="0" i="0" baseline="30000" dirty="0">
                <a:solidFill>
                  <a:srgbClr val="46464A"/>
                </a:solidFill>
                <a:effectLst/>
                <a:latin typeface="Inter"/>
              </a:rPr>
              <a:t>c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 = {3, 5}</a:t>
            </a:r>
            <a:endParaRPr lang="en-US" altLang="en-US" sz="1200" b="0" i="1" dirty="0">
              <a:solidFill>
                <a:srgbClr val="46464A"/>
              </a:solidFill>
              <a:effectLst/>
              <a:latin typeface="Inter"/>
            </a:endParaRPr>
          </a:p>
          <a:p>
            <a:pPr marL="228600" indent="-228600">
              <a:buAutoNum type="alphaLcParenR" startAt="6"/>
            </a:pPr>
            <a:r>
              <a:rPr lang="en-US" altLang="en-US" sz="1200" i="0" dirty="0">
                <a:solidFill>
                  <a:srgbClr val="000000"/>
                </a:solidFill>
              </a:rPr>
              <a:t>(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sz="12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∩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 </a:t>
            </a:r>
            <a:r>
              <a:rPr lang="en-US" b="0" i="1" dirty="0">
                <a:solidFill>
                  <a:srgbClr val="46464A"/>
                </a:solidFill>
                <a:effectLst/>
                <a:latin typeface="Inter"/>
              </a:rPr>
              <a:t>B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)</a:t>
            </a:r>
            <a:r>
              <a:rPr lang="en-US" b="0" i="0" baseline="30000" dirty="0">
                <a:solidFill>
                  <a:srgbClr val="46464A"/>
                </a:solidFill>
                <a:effectLst/>
                <a:latin typeface="Inter"/>
              </a:rPr>
              <a:t>c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 = {1, 3, 4, 5, 6}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5F0C6-756D-4557-9F05-8D18F8C0EAC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8796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Example.</a:t>
            </a:r>
          </a:p>
          <a:p>
            <a:r>
              <a:rPr lang="en-US" dirty="0"/>
              <a:t>“I only wear white or blue shirts.”</a:t>
            </a:r>
          </a:p>
          <a:p>
            <a:endParaRPr lang="en-US" dirty="0"/>
          </a:p>
          <a:p>
            <a:r>
              <a:rPr lang="en-US" dirty="0"/>
              <a:t>Shirts </a:t>
            </a:r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∩ (Blue clothes ∪ White clothes)</a:t>
            </a:r>
          </a:p>
          <a:p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  = Shirt and (Blue or White)</a:t>
            </a:r>
          </a:p>
          <a:p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  = (Blue shirts) or (White shirts)</a:t>
            </a:r>
          </a:p>
          <a:p>
            <a:endParaRPr lang="en-US" b="0" i="0" dirty="0">
              <a:solidFill>
                <a:srgbClr val="46464A"/>
              </a:solidFill>
              <a:effectLst/>
              <a:latin typeface="Inter"/>
            </a:endParaRPr>
          </a:p>
          <a:p>
            <a:r>
              <a:rPr lang="en-US" b="0" i="0" dirty="0">
                <a:solidFill>
                  <a:srgbClr val="46464A"/>
                </a:solidFill>
                <a:effectLst/>
                <a:latin typeface="Inter"/>
              </a:rPr>
              <a:t>“I only wear blue shirts or white shirts”</a:t>
            </a:r>
          </a:p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5F0C6-756D-4557-9F05-8D18F8C0EAC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6554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f</a:t>
            </a:r>
            <a:r>
              <a:rPr lang="en-US" dirty="0"/>
              <a:t> is a function if </a:t>
            </a:r>
            <a:r>
              <a:rPr lang="en-US" i="1" dirty="0"/>
              <a:t>f</a:t>
            </a:r>
            <a:r>
              <a:rPr lang="en-US" dirty="0"/>
              <a:t> maps each element of </a:t>
            </a:r>
            <a:r>
              <a:rPr lang="en-US" i="1" dirty="0"/>
              <a:t>X</a:t>
            </a:r>
            <a:r>
              <a:rPr lang="en-US" dirty="0"/>
              <a:t> to an element in </a:t>
            </a:r>
            <a:r>
              <a:rPr lang="en-US" i="1" dirty="0"/>
              <a:t>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Range is a subset of </a:t>
            </a:r>
            <a:r>
              <a:rPr lang="en-US" i="1" dirty="0"/>
              <a:t>Y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5F0C6-756D-4557-9F05-8D18F8C0EAC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24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builder notation:</a:t>
            </a:r>
          </a:p>
          <a:p>
            <a:endParaRPr lang="en-US" dirty="0"/>
          </a:p>
          <a:p>
            <a:r>
              <a:rPr lang="en-US" dirty="0"/>
              <a:t>Example.</a:t>
            </a:r>
          </a:p>
          <a:p>
            <a:r>
              <a:rPr lang="en-US" dirty="0"/>
              <a:t>The set of prime numbers:</a:t>
            </a:r>
          </a:p>
          <a:p>
            <a:r>
              <a:rPr lang="en-US" dirty="0"/>
              <a:t>P = {p | p is prime}</a:t>
            </a:r>
          </a:p>
          <a:p>
            <a:r>
              <a:rPr lang="en-US" dirty="0"/>
              <a:t>“p such that p is a prime”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Predicate: p is prime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“such that”: vertical bar</a:t>
            </a:r>
          </a:p>
          <a:p>
            <a:endParaRPr lang="en-US" dirty="0"/>
          </a:p>
          <a:p>
            <a:r>
              <a:rPr lang="en-US" dirty="0"/>
              <a:t>Codomain of </a:t>
            </a:r>
            <a:r>
              <a:rPr lang="en-US" i="1" dirty="0"/>
              <a:t>f</a:t>
            </a:r>
            <a:r>
              <a:rPr lang="en-US" dirty="0"/>
              <a:t> is R</a:t>
            </a:r>
            <a:r>
              <a:rPr lang="en-US" baseline="30000" dirty="0"/>
              <a:t>+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5F0C6-756D-4557-9F05-8D18F8C0EAC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94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7C18B-BAE1-E442-C766-002C970CD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617AE-90C9-DA71-5B3D-5FCE0B6F4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0CBA2-9514-E2AA-8EFE-3865B379C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FA39-603F-4158-AF52-F55B9F87792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F3487-99C6-2538-9309-7B85F0503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6F30D-4EBA-3A7A-6222-3D41F7648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694E-818A-457A-8BE0-60EAA86E6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377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A425E-7BDF-B92E-3E2E-6269A1D36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59F59-E936-11D3-71E6-2E9200DDD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C6E5B-6584-0BEA-4A69-E21648F4C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FA39-603F-4158-AF52-F55B9F87792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8A7AB-A371-EF56-4D60-4DA4621FF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523B4-C45C-2582-E8F9-5EE89103B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694E-818A-457A-8BE0-60EAA86E6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078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AE3BC-947B-2D69-D6BC-AFDA9D66B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AAD81-5CF6-A8DC-536D-34A043709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60602-6C37-DDD6-2F28-1D51A1BC8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FA39-603F-4158-AF52-F55B9F87792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2CF17-14B8-F103-E2FE-7A42617E0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D5D63-32C0-6796-C5EA-624BBE02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694E-818A-457A-8BE0-60EAA86E6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2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0830-79D8-A7F2-4237-AF020D826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6697E-9F61-AD88-7BF5-C27533B899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A8C31-AFA7-5C94-D661-FA30D4205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67A4C-3D20-1F86-6272-83DF13B69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FA39-603F-4158-AF52-F55B9F87792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A0408-8F4B-A43D-9AC1-10623B35F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085A5-4C57-2D9C-93B5-33A3316A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694E-818A-457A-8BE0-60EAA86E6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78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E650B-9D07-EC94-8DDF-EB33AA355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05E73-518E-5EE7-B5DA-94BCE7D33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277C1-5AB6-F23C-0149-BC07305BE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0D21D-9512-5A0A-D1C2-34697F2573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E62B84-D3F7-801B-1F9F-AC3A38C5DE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F052A1-BA10-4435-62A9-645BBC42A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FA39-603F-4158-AF52-F55B9F87792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0D045E-3483-FD9C-3AB9-97B0FAFE5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C2A251-79F5-81EB-EB9D-3CD1BA45C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694E-818A-457A-8BE0-60EAA86E6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798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99D7A-189F-81CA-489C-2EFC505D7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BAABBE-D692-A3D0-2A70-30E97D9B1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FA39-603F-4158-AF52-F55B9F87792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3D607-D522-D72D-70D5-72BC7000A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D9538-34B5-AA5D-D8DA-E6949FFA1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694E-818A-457A-8BE0-60EAA86E6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88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A6A9AA-BBBE-DC20-5475-536968AE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FA39-603F-4158-AF52-F55B9F87792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D17587-6EE2-F4D5-6634-8B90BDA48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A4560-0464-BDB8-FEB1-A35BEC2C6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694E-818A-457A-8BE0-60EAA86E6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82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5ED33-8C1A-681B-09FA-3FE6FD08D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12B88-7144-EBD9-786A-45E98356B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2F301-583A-EE9C-23C5-47DF06903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11E4D-168D-A240-D0D1-6173234E0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FA39-603F-4158-AF52-F55B9F87792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4B00A-C5A4-203B-B434-9B5B90411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22173-2AE7-0FF4-B360-A5206BF03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694E-818A-457A-8BE0-60EAA86E6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B4666-D473-499F-EBBF-842D10C52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9F3D01-D53B-BEAD-F174-75DA115C6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518E5-56AC-A427-91AE-EEE516060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2A451-E582-D290-8544-C0BC15906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FA39-603F-4158-AF52-F55B9F87792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BC916-5C14-504E-98E6-15FB861C4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3FC45-7ABB-20FC-AC88-3051A94A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694E-818A-457A-8BE0-60EAA86E6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63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BCB3A-8C79-8953-AA52-411210328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E2A87-5E23-015F-7ED7-08A1976C9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9776F-DEF5-097E-6F56-A6A097800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FA39-603F-4158-AF52-F55B9F87792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E30A4-B2E2-A01A-9849-79CE8B534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EA72E-A593-D8FD-5950-84EFAF0C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694E-818A-457A-8BE0-60EAA86E6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25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2DC69D-11F1-8B36-8F2D-7D652A1403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5B3573-361B-85BB-478C-08D503DA7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69667-4E8A-6B62-D5D7-90C0264BE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FA39-603F-4158-AF52-F55B9F87792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A3854-5525-528A-5595-07966EBFA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734FB-52D1-5463-0B55-80987B76D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694E-818A-457A-8BE0-60EAA86E6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03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44397" y="632917"/>
            <a:ext cx="10503204" cy="636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241935">
              <a:lnSpc>
                <a:spcPts val="31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852439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241935">
              <a:lnSpc>
                <a:spcPts val="31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524103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t="14000" r="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5311D4-F327-DD25-CF4E-F281D8910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C3A6D-812D-C126-5A05-C77C160D9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8ED58-D4EB-D6EC-BCA7-C8D7EAF023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96FA39-603F-4158-AF52-F55B9F87792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EB261-ABD1-1FDB-7013-3F39596C4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12BFC-F3A7-82F2-5A51-F7D1FAEC4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1A694E-818A-457A-8BE0-60EAA86E6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643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34.png"/><Relationship Id="rId5" Type="http://schemas.openxmlformats.org/officeDocument/2006/relationships/image" Target="../media/image29.png"/><Relationship Id="rId10" Type="http://schemas.openxmlformats.org/officeDocument/2006/relationships/image" Target="../media/image33.png"/><Relationship Id="rId4" Type="http://schemas.openxmlformats.org/officeDocument/2006/relationships/image" Target="../media/image10.pn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35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0.png"/><Relationship Id="rId7" Type="http://schemas.openxmlformats.org/officeDocument/2006/relationships/image" Target="../media/image4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12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0.png"/><Relationship Id="rId7" Type="http://schemas.openxmlformats.org/officeDocument/2006/relationships/image" Target="../media/image3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4.png"/><Relationship Id="rId5" Type="http://schemas.openxmlformats.org/officeDocument/2006/relationships/image" Target="../media/image49.png"/><Relationship Id="rId10" Type="http://schemas.openxmlformats.org/officeDocument/2006/relationships/image" Target="../media/image53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34.png"/><Relationship Id="rId7" Type="http://schemas.openxmlformats.org/officeDocument/2006/relationships/image" Target="../media/image5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5.png"/><Relationship Id="rId9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0.png"/><Relationship Id="rId7" Type="http://schemas.openxmlformats.org/officeDocument/2006/relationships/image" Target="../media/image62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65.png"/><Relationship Id="rId5" Type="http://schemas.openxmlformats.org/officeDocument/2006/relationships/image" Target="../media/image29.png"/><Relationship Id="rId10" Type="http://schemas.openxmlformats.org/officeDocument/2006/relationships/image" Target="../media/image43.png"/><Relationship Id="rId4" Type="http://schemas.openxmlformats.org/officeDocument/2006/relationships/image" Target="../media/image61.png"/><Relationship Id="rId9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B078E-DD74-5288-9566-2D61E59BB9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Review</a:t>
            </a:r>
            <a:r>
              <a:rPr lang="en-US" spc="-95" dirty="0"/>
              <a:t> </a:t>
            </a:r>
            <a:r>
              <a:rPr lang="en-US" dirty="0"/>
              <a:t>of</a:t>
            </a:r>
            <a:r>
              <a:rPr lang="en-US" spc="-90" dirty="0"/>
              <a:t> </a:t>
            </a:r>
            <a:r>
              <a:rPr lang="en-US" dirty="0"/>
              <a:t>Set</a:t>
            </a:r>
            <a:r>
              <a:rPr lang="en-US" spc="-65" dirty="0"/>
              <a:t> </a:t>
            </a:r>
            <a:r>
              <a:rPr lang="en-US" spc="-10" dirty="0"/>
              <a:t>Theory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344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551889"/>
            <a:ext cx="6689090" cy="3542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unordered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collection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things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(elements).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544" y="2264664"/>
            <a:ext cx="1740408" cy="304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82567" y="2264664"/>
            <a:ext cx="2252472" cy="304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4544" y="3069335"/>
            <a:ext cx="1987295" cy="304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4544" y="3880103"/>
            <a:ext cx="4931663" cy="3413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04544" y="4727447"/>
            <a:ext cx="1868424" cy="301751"/>
          </a:xfrm>
          <a:prstGeom prst="rect">
            <a:avLst/>
          </a:prstGeom>
        </p:spPr>
      </p:pic>
      <p:sp>
        <p:nvSpPr>
          <p:cNvPr id="12" name="object 2">
            <a:extLst>
              <a:ext uri="{FF2B5EF4-FFF2-40B4-BE49-F238E27FC236}">
                <a16:creationId xmlns:a16="http://schemas.microsoft.com/office/drawing/2014/main" id="{E68DA40F-90BD-2D0D-2435-1569E5D08F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401" y="682299"/>
            <a:ext cx="10436556" cy="6912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Review</a:t>
            </a:r>
            <a:r>
              <a:rPr spc="-10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Set</a:t>
            </a:r>
            <a:r>
              <a:rPr spc="-65" dirty="0"/>
              <a:t> </a:t>
            </a:r>
            <a:r>
              <a:rPr spc="-10" dirty="0"/>
              <a:t>Theory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07817" y="1672677"/>
            <a:ext cx="3741420" cy="20631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natural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numbers,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 typeface="Arial MT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integers,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0"/>
              </a:spcBef>
              <a:buFont typeface="Arial MT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real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number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3174" y="1751468"/>
            <a:ext cx="2554224" cy="304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98856" y="2567765"/>
            <a:ext cx="5346192" cy="3017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75476" y="3433680"/>
            <a:ext cx="286512" cy="210312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4039BABB-F4C1-A213-32DB-31646BC65B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401" y="682299"/>
            <a:ext cx="10436556" cy="6912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Review</a:t>
            </a:r>
            <a:r>
              <a:rPr spc="-10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Set</a:t>
            </a:r>
            <a:r>
              <a:rPr spc="-65" dirty="0"/>
              <a:t> </a:t>
            </a:r>
            <a:r>
              <a:rPr spc="-10" dirty="0"/>
              <a:t>Theory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500242"/>
            <a:ext cx="894270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99"/>
              </a:lnSpc>
              <a:spcBef>
                <a:spcPts val="100"/>
              </a:spcBef>
              <a:tabLst>
                <a:tab pos="895350" algn="l"/>
                <a:tab pos="2460625" algn="l"/>
                <a:tab pos="3402329" algn="l"/>
                <a:tab pos="3459479" algn="l"/>
                <a:tab pos="3943985" algn="l"/>
                <a:tab pos="6322695" algn="l"/>
              </a:tabLst>
            </a:pPr>
            <a:r>
              <a:rPr sz="2400" b="1" spc="-25" dirty="0">
                <a:latin typeface="Calibri"/>
                <a:cs typeface="Calibri"/>
              </a:rPr>
              <a:t>Set</a:t>
            </a:r>
            <a:r>
              <a:rPr sz="2400" b="1" dirty="0">
                <a:latin typeface="Calibri"/>
                <a:cs typeface="Calibri"/>
              </a:rPr>
              <a:t>	is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subset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set</a:t>
            </a:r>
            <a:r>
              <a:rPr sz="2400" b="1" dirty="0">
                <a:latin typeface="Calibri"/>
                <a:cs typeface="Calibri"/>
              </a:rPr>
              <a:t>		if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every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element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of</a:t>
            </a:r>
            <a:r>
              <a:rPr sz="2400" b="1" dirty="0">
                <a:latin typeface="Calibri"/>
                <a:cs typeface="Calibri"/>
              </a:rPr>
              <a:t>	is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also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element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of </a:t>
            </a:r>
            <a:r>
              <a:rPr sz="2400" b="1" dirty="0">
                <a:latin typeface="Calibri"/>
                <a:cs typeface="Calibri"/>
              </a:rPr>
              <a:t>We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write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0" dirty="0">
                <a:latin typeface="Calibri"/>
                <a:cs typeface="Calibri"/>
              </a:rPr>
              <a:t>where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50" dirty="0">
                <a:latin typeface="Calibri"/>
                <a:cs typeface="Calibri"/>
              </a:rPr>
              <a:t>"</a:t>
            </a:r>
            <a:r>
              <a:rPr sz="2400" b="1" dirty="0">
                <a:latin typeface="Calibri"/>
                <a:cs typeface="Calibri"/>
              </a:rPr>
              <a:t>	"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indicates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"subset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".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3415291"/>
            <a:ext cx="1182370" cy="1687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Example: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50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92879" y="1645070"/>
            <a:ext cx="246887" cy="2072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9511" y="1645070"/>
            <a:ext cx="240792" cy="2164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76288" y="1645070"/>
            <a:ext cx="240792" cy="2164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60864" y="1645070"/>
            <a:ext cx="338327" cy="2072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47817" y="2105970"/>
            <a:ext cx="216408" cy="20421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97607" y="2082850"/>
            <a:ext cx="1069847" cy="27432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3480" y="4090982"/>
            <a:ext cx="5638800" cy="3048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73480" y="4840789"/>
            <a:ext cx="954024" cy="23469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20496" y="2783389"/>
            <a:ext cx="4712208" cy="301751"/>
          </a:xfrm>
          <a:prstGeom prst="rect">
            <a:avLst/>
          </a:prstGeom>
        </p:spPr>
      </p:pic>
      <p:sp>
        <p:nvSpPr>
          <p:cNvPr id="17" name="object 2">
            <a:extLst>
              <a:ext uri="{FF2B5EF4-FFF2-40B4-BE49-F238E27FC236}">
                <a16:creationId xmlns:a16="http://schemas.microsoft.com/office/drawing/2014/main" id="{F99E425D-3F2F-5D33-0A2F-C94F01BC21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401" y="682299"/>
            <a:ext cx="10436556" cy="6912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Review</a:t>
            </a:r>
            <a:r>
              <a:rPr spc="-10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Set</a:t>
            </a:r>
            <a:r>
              <a:rPr spc="-65" dirty="0"/>
              <a:t> </a:t>
            </a:r>
            <a:r>
              <a:rPr spc="-10" dirty="0"/>
              <a:t>Theory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890422" y="1478709"/>
            <a:ext cx="4599940" cy="934719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174115">
              <a:lnSpc>
                <a:spcPct val="100000"/>
              </a:lnSpc>
              <a:spcBef>
                <a:spcPts val="800"/>
              </a:spcBef>
              <a:tabLst>
                <a:tab pos="4109085" algn="l"/>
              </a:tabLst>
            </a:pP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only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if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b="1" spc="-10" dirty="0">
                <a:latin typeface="Calibri"/>
                <a:cs typeface="Calibri"/>
              </a:rPr>
              <a:t>Example: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0422" y="3388233"/>
            <a:ext cx="9712325" cy="2236894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2640"/>
              </a:lnSpc>
              <a:spcBef>
                <a:spcPts val="580"/>
              </a:spcBef>
              <a:spcAft>
                <a:spcPts val="600"/>
              </a:spcAft>
            </a:pPr>
            <a:r>
              <a:rPr sz="2600" b="1" dirty="0">
                <a:solidFill>
                  <a:srgbClr val="4471C4"/>
                </a:solidFill>
                <a:latin typeface="Calibri"/>
                <a:cs typeface="Calibri"/>
              </a:rPr>
              <a:t>Universal</a:t>
            </a:r>
            <a:r>
              <a:rPr sz="2600" b="1" spc="-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471C4"/>
                </a:solidFill>
                <a:latin typeface="Calibri"/>
                <a:cs typeface="Calibri"/>
              </a:rPr>
              <a:t>set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15" dirty="0">
                <a:latin typeface="Calibri"/>
                <a:cs typeface="Calibri"/>
              </a:rPr>
              <a:t> </a:t>
            </a:r>
            <a:br>
              <a:rPr lang="en-US" sz="2400" b="1" spc="-15" dirty="0">
                <a:latin typeface="Calibri"/>
                <a:cs typeface="Calibri"/>
              </a:rPr>
            </a:b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 of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things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could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possibly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consider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given context.</a:t>
            </a:r>
            <a:endParaRPr lang="en-US" sz="2400" dirty="0">
              <a:latin typeface="Calibri"/>
              <a:cs typeface="Calibri"/>
            </a:endParaRPr>
          </a:p>
          <a:p>
            <a:pPr marL="762635">
              <a:lnSpc>
                <a:spcPct val="100000"/>
              </a:lnSpc>
              <a:spcBef>
                <a:spcPts val="675"/>
              </a:spcBef>
            </a:pPr>
            <a:r>
              <a:rPr lang="en-US" sz="2400" b="1" dirty="0">
                <a:latin typeface="Calibri"/>
                <a:cs typeface="Calibri"/>
              </a:rPr>
              <a:t>Universal</a:t>
            </a:r>
            <a:r>
              <a:rPr lang="en-US" sz="2400" b="1" spc="-125" dirty="0">
                <a:latin typeface="Calibri"/>
                <a:cs typeface="Calibri"/>
              </a:rPr>
              <a:t> </a:t>
            </a:r>
            <a:r>
              <a:rPr lang="en-US" sz="2400" b="1" spc="-25" dirty="0">
                <a:latin typeface="Calibri"/>
                <a:cs typeface="Calibri"/>
              </a:rPr>
              <a:t>set</a:t>
            </a:r>
            <a:endParaRPr lang="en-US" sz="2400" dirty="0">
              <a:latin typeface="Calibri"/>
              <a:cs typeface="Calibri"/>
            </a:endParaRPr>
          </a:p>
          <a:p>
            <a:pPr marL="12700" marR="7828280" indent="749935">
              <a:lnSpc>
                <a:spcPct val="124200"/>
              </a:lnSpc>
              <a:spcBef>
                <a:spcPts val="25"/>
              </a:spcBef>
            </a:pPr>
            <a:r>
              <a:rPr sz="2400" b="1" dirty="0">
                <a:latin typeface="Calibri"/>
                <a:cs typeface="Calibri"/>
              </a:rPr>
              <a:t>Null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; </a:t>
            </a:r>
            <a:r>
              <a:rPr lang="en-US" sz="2400" b="1" spc="-50" dirty="0">
                <a:latin typeface="Calibri"/>
                <a:cs typeface="Calibri"/>
              </a:rPr>
              <a:t> 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set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5632" y="1648119"/>
            <a:ext cx="975359" cy="2164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88664" y="1648119"/>
            <a:ext cx="978408" cy="2438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29655" y="1648119"/>
            <a:ext cx="1063752" cy="2438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3544" y="2532888"/>
            <a:ext cx="2901696" cy="27736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15840" y="2532888"/>
            <a:ext cx="2618232" cy="27736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4400" y="4362254"/>
            <a:ext cx="557784" cy="21945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29000" y="4352827"/>
            <a:ext cx="676655" cy="2682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35736" y="4760126"/>
            <a:ext cx="512064" cy="25908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947416" y="4754314"/>
            <a:ext cx="1048511" cy="30784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404872" y="5214562"/>
            <a:ext cx="1484376" cy="292608"/>
          </a:xfrm>
          <a:prstGeom prst="rect">
            <a:avLst/>
          </a:prstGeom>
        </p:spPr>
      </p:pic>
      <p:sp>
        <p:nvSpPr>
          <p:cNvPr id="18" name="object 2">
            <a:extLst>
              <a:ext uri="{FF2B5EF4-FFF2-40B4-BE49-F238E27FC236}">
                <a16:creationId xmlns:a16="http://schemas.microsoft.com/office/drawing/2014/main" id="{8A80BEFD-F3F3-DB8A-F4B8-B43171FF2D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401" y="682299"/>
            <a:ext cx="10436556" cy="6912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Review</a:t>
            </a:r>
            <a:r>
              <a:rPr spc="-10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Set</a:t>
            </a:r>
            <a:r>
              <a:rPr spc="-65" dirty="0"/>
              <a:t> </a:t>
            </a:r>
            <a:r>
              <a:rPr spc="-10" dirty="0"/>
              <a:t>Theory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17244" y="1577416"/>
            <a:ext cx="724598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Venn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diagram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any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depicted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by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closed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surface.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254031" y="2795725"/>
            <a:ext cx="2806327" cy="1728150"/>
            <a:chOff x="4251705" y="2639314"/>
            <a:chExt cx="2579370" cy="1399540"/>
          </a:xfrm>
        </p:grpSpPr>
        <p:sp>
          <p:nvSpPr>
            <p:cNvPr id="5" name="object 5"/>
            <p:cNvSpPr/>
            <p:nvPr/>
          </p:nvSpPr>
          <p:spPr>
            <a:xfrm>
              <a:off x="4258055" y="2645664"/>
              <a:ext cx="2566670" cy="1386840"/>
            </a:xfrm>
            <a:custGeom>
              <a:avLst/>
              <a:gdLst/>
              <a:ahLst/>
              <a:cxnLst/>
              <a:rect l="l" t="t" r="r" b="b"/>
              <a:pathLst>
                <a:path w="2566670" h="1386839">
                  <a:moveTo>
                    <a:pt x="2566416" y="0"/>
                  </a:moveTo>
                  <a:lnTo>
                    <a:pt x="0" y="0"/>
                  </a:lnTo>
                  <a:lnTo>
                    <a:pt x="0" y="1386840"/>
                  </a:lnTo>
                  <a:lnTo>
                    <a:pt x="2566416" y="1386840"/>
                  </a:lnTo>
                  <a:lnTo>
                    <a:pt x="25664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58055" y="2645664"/>
              <a:ext cx="2566670" cy="1386840"/>
            </a:xfrm>
            <a:custGeom>
              <a:avLst/>
              <a:gdLst/>
              <a:ahLst/>
              <a:cxnLst/>
              <a:rect l="l" t="t" r="r" b="b"/>
              <a:pathLst>
                <a:path w="2566670" h="1386839">
                  <a:moveTo>
                    <a:pt x="0" y="1386840"/>
                  </a:moveTo>
                  <a:lnTo>
                    <a:pt x="2566416" y="1386840"/>
                  </a:lnTo>
                  <a:lnTo>
                    <a:pt x="2566416" y="0"/>
                  </a:lnTo>
                  <a:lnTo>
                    <a:pt x="0" y="0"/>
                  </a:lnTo>
                  <a:lnTo>
                    <a:pt x="0" y="138684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05755" y="2793492"/>
              <a:ext cx="1219200" cy="1042669"/>
            </a:xfrm>
            <a:custGeom>
              <a:avLst/>
              <a:gdLst/>
              <a:ahLst/>
              <a:cxnLst/>
              <a:rect l="l" t="t" r="r" b="b"/>
              <a:pathLst>
                <a:path w="1219200" h="1042670">
                  <a:moveTo>
                    <a:pt x="609600" y="0"/>
                  </a:moveTo>
                  <a:lnTo>
                    <a:pt x="557000" y="1912"/>
                  </a:lnTo>
                  <a:lnTo>
                    <a:pt x="505644" y="7546"/>
                  </a:lnTo>
                  <a:lnTo>
                    <a:pt x="455713" y="16745"/>
                  </a:lnTo>
                  <a:lnTo>
                    <a:pt x="407390" y="29353"/>
                  </a:lnTo>
                  <a:lnTo>
                    <a:pt x="360859" y="45212"/>
                  </a:lnTo>
                  <a:lnTo>
                    <a:pt x="316303" y="64168"/>
                  </a:lnTo>
                  <a:lnTo>
                    <a:pt x="273904" y="86064"/>
                  </a:lnTo>
                  <a:lnTo>
                    <a:pt x="233845" y="110742"/>
                  </a:lnTo>
                  <a:lnTo>
                    <a:pt x="196310" y="138048"/>
                  </a:lnTo>
                  <a:lnTo>
                    <a:pt x="161481" y="167825"/>
                  </a:lnTo>
                  <a:lnTo>
                    <a:pt x="129541" y="199916"/>
                  </a:lnTo>
                  <a:lnTo>
                    <a:pt x="100674" y="234165"/>
                  </a:lnTo>
                  <a:lnTo>
                    <a:pt x="75063" y="270416"/>
                  </a:lnTo>
                  <a:lnTo>
                    <a:pt x="52889" y="308513"/>
                  </a:lnTo>
                  <a:lnTo>
                    <a:pt x="34337" y="348299"/>
                  </a:lnTo>
                  <a:lnTo>
                    <a:pt x="19589" y="389617"/>
                  </a:lnTo>
                  <a:lnTo>
                    <a:pt x="8828" y="432313"/>
                  </a:lnTo>
                  <a:lnTo>
                    <a:pt x="2237" y="476228"/>
                  </a:lnTo>
                  <a:lnTo>
                    <a:pt x="0" y="521208"/>
                  </a:lnTo>
                  <a:lnTo>
                    <a:pt x="2237" y="566187"/>
                  </a:lnTo>
                  <a:lnTo>
                    <a:pt x="8828" y="610102"/>
                  </a:lnTo>
                  <a:lnTo>
                    <a:pt x="19589" y="652798"/>
                  </a:lnTo>
                  <a:lnTo>
                    <a:pt x="34337" y="694116"/>
                  </a:lnTo>
                  <a:lnTo>
                    <a:pt x="52889" y="733902"/>
                  </a:lnTo>
                  <a:lnTo>
                    <a:pt x="75063" y="771999"/>
                  </a:lnTo>
                  <a:lnTo>
                    <a:pt x="100674" y="808250"/>
                  </a:lnTo>
                  <a:lnTo>
                    <a:pt x="129541" y="842499"/>
                  </a:lnTo>
                  <a:lnTo>
                    <a:pt x="161481" y="874590"/>
                  </a:lnTo>
                  <a:lnTo>
                    <a:pt x="196310" y="904367"/>
                  </a:lnTo>
                  <a:lnTo>
                    <a:pt x="233845" y="931673"/>
                  </a:lnTo>
                  <a:lnTo>
                    <a:pt x="273904" y="956351"/>
                  </a:lnTo>
                  <a:lnTo>
                    <a:pt x="316303" y="978247"/>
                  </a:lnTo>
                  <a:lnTo>
                    <a:pt x="360859" y="997203"/>
                  </a:lnTo>
                  <a:lnTo>
                    <a:pt x="407390" y="1013062"/>
                  </a:lnTo>
                  <a:lnTo>
                    <a:pt x="455713" y="1025670"/>
                  </a:lnTo>
                  <a:lnTo>
                    <a:pt x="505644" y="1034869"/>
                  </a:lnTo>
                  <a:lnTo>
                    <a:pt x="557000" y="1040503"/>
                  </a:lnTo>
                  <a:lnTo>
                    <a:pt x="609600" y="1042416"/>
                  </a:lnTo>
                  <a:lnTo>
                    <a:pt x="662199" y="1040503"/>
                  </a:lnTo>
                  <a:lnTo>
                    <a:pt x="713555" y="1034869"/>
                  </a:lnTo>
                  <a:lnTo>
                    <a:pt x="763486" y="1025670"/>
                  </a:lnTo>
                  <a:lnTo>
                    <a:pt x="811809" y="1013062"/>
                  </a:lnTo>
                  <a:lnTo>
                    <a:pt x="858340" y="997203"/>
                  </a:lnTo>
                  <a:lnTo>
                    <a:pt x="902896" y="978247"/>
                  </a:lnTo>
                  <a:lnTo>
                    <a:pt x="945295" y="956351"/>
                  </a:lnTo>
                  <a:lnTo>
                    <a:pt x="985354" y="931673"/>
                  </a:lnTo>
                  <a:lnTo>
                    <a:pt x="1022889" y="904367"/>
                  </a:lnTo>
                  <a:lnTo>
                    <a:pt x="1057718" y="874590"/>
                  </a:lnTo>
                  <a:lnTo>
                    <a:pt x="1089658" y="842499"/>
                  </a:lnTo>
                  <a:lnTo>
                    <a:pt x="1118525" y="808250"/>
                  </a:lnTo>
                  <a:lnTo>
                    <a:pt x="1144136" y="771999"/>
                  </a:lnTo>
                  <a:lnTo>
                    <a:pt x="1166310" y="733902"/>
                  </a:lnTo>
                  <a:lnTo>
                    <a:pt x="1184862" y="694116"/>
                  </a:lnTo>
                  <a:lnTo>
                    <a:pt x="1199610" y="652798"/>
                  </a:lnTo>
                  <a:lnTo>
                    <a:pt x="1210371" y="610102"/>
                  </a:lnTo>
                  <a:lnTo>
                    <a:pt x="1216962" y="566187"/>
                  </a:lnTo>
                  <a:lnTo>
                    <a:pt x="1219200" y="521208"/>
                  </a:lnTo>
                  <a:lnTo>
                    <a:pt x="1216962" y="476228"/>
                  </a:lnTo>
                  <a:lnTo>
                    <a:pt x="1210371" y="432313"/>
                  </a:lnTo>
                  <a:lnTo>
                    <a:pt x="1199610" y="389617"/>
                  </a:lnTo>
                  <a:lnTo>
                    <a:pt x="1184862" y="348299"/>
                  </a:lnTo>
                  <a:lnTo>
                    <a:pt x="1166310" y="308513"/>
                  </a:lnTo>
                  <a:lnTo>
                    <a:pt x="1144136" y="270416"/>
                  </a:lnTo>
                  <a:lnTo>
                    <a:pt x="1118525" y="234165"/>
                  </a:lnTo>
                  <a:lnTo>
                    <a:pt x="1089658" y="199916"/>
                  </a:lnTo>
                  <a:lnTo>
                    <a:pt x="1057718" y="167825"/>
                  </a:lnTo>
                  <a:lnTo>
                    <a:pt x="1022889" y="138048"/>
                  </a:lnTo>
                  <a:lnTo>
                    <a:pt x="985354" y="110742"/>
                  </a:lnTo>
                  <a:lnTo>
                    <a:pt x="945295" y="86064"/>
                  </a:lnTo>
                  <a:lnTo>
                    <a:pt x="902896" y="64168"/>
                  </a:lnTo>
                  <a:lnTo>
                    <a:pt x="858340" y="45212"/>
                  </a:lnTo>
                  <a:lnTo>
                    <a:pt x="811809" y="29353"/>
                  </a:lnTo>
                  <a:lnTo>
                    <a:pt x="763486" y="16745"/>
                  </a:lnTo>
                  <a:lnTo>
                    <a:pt x="713555" y="7546"/>
                  </a:lnTo>
                  <a:lnTo>
                    <a:pt x="662199" y="1912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5755" y="2793492"/>
              <a:ext cx="1219200" cy="1042669"/>
            </a:xfrm>
            <a:custGeom>
              <a:avLst/>
              <a:gdLst/>
              <a:ahLst/>
              <a:cxnLst/>
              <a:rect l="l" t="t" r="r" b="b"/>
              <a:pathLst>
                <a:path w="1219200" h="1042670">
                  <a:moveTo>
                    <a:pt x="0" y="521208"/>
                  </a:moveTo>
                  <a:lnTo>
                    <a:pt x="2237" y="476228"/>
                  </a:lnTo>
                  <a:lnTo>
                    <a:pt x="8828" y="432313"/>
                  </a:lnTo>
                  <a:lnTo>
                    <a:pt x="19589" y="389617"/>
                  </a:lnTo>
                  <a:lnTo>
                    <a:pt x="34337" y="348299"/>
                  </a:lnTo>
                  <a:lnTo>
                    <a:pt x="52889" y="308513"/>
                  </a:lnTo>
                  <a:lnTo>
                    <a:pt x="75063" y="270416"/>
                  </a:lnTo>
                  <a:lnTo>
                    <a:pt x="100674" y="234165"/>
                  </a:lnTo>
                  <a:lnTo>
                    <a:pt x="129541" y="199916"/>
                  </a:lnTo>
                  <a:lnTo>
                    <a:pt x="161481" y="167825"/>
                  </a:lnTo>
                  <a:lnTo>
                    <a:pt x="196310" y="138048"/>
                  </a:lnTo>
                  <a:lnTo>
                    <a:pt x="233845" y="110742"/>
                  </a:lnTo>
                  <a:lnTo>
                    <a:pt x="273904" y="86064"/>
                  </a:lnTo>
                  <a:lnTo>
                    <a:pt x="316303" y="64168"/>
                  </a:lnTo>
                  <a:lnTo>
                    <a:pt x="360859" y="45212"/>
                  </a:lnTo>
                  <a:lnTo>
                    <a:pt x="407390" y="29353"/>
                  </a:lnTo>
                  <a:lnTo>
                    <a:pt x="455713" y="16745"/>
                  </a:lnTo>
                  <a:lnTo>
                    <a:pt x="505644" y="7546"/>
                  </a:lnTo>
                  <a:lnTo>
                    <a:pt x="557000" y="1912"/>
                  </a:lnTo>
                  <a:lnTo>
                    <a:pt x="609600" y="0"/>
                  </a:lnTo>
                  <a:lnTo>
                    <a:pt x="662199" y="1912"/>
                  </a:lnTo>
                  <a:lnTo>
                    <a:pt x="713555" y="7546"/>
                  </a:lnTo>
                  <a:lnTo>
                    <a:pt x="763486" y="16745"/>
                  </a:lnTo>
                  <a:lnTo>
                    <a:pt x="811809" y="29353"/>
                  </a:lnTo>
                  <a:lnTo>
                    <a:pt x="858340" y="45212"/>
                  </a:lnTo>
                  <a:lnTo>
                    <a:pt x="902896" y="64168"/>
                  </a:lnTo>
                  <a:lnTo>
                    <a:pt x="945295" y="86064"/>
                  </a:lnTo>
                  <a:lnTo>
                    <a:pt x="985354" y="110742"/>
                  </a:lnTo>
                  <a:lnTo>
                    <a:pt x="1022889" y="138048"/>
                  </a:lnTo>
                  <a:lnTo>
                    <a:pt x="1057718" y="167825"/>
                  </a:lnTo>
                  <a:lnTo>
                    <a:pt x="1089658" y="199916"/>
                  </a:lnTo>
                  <a:lnTo>
                    <a:pt x="1118525" y="234165"/>
                  </a:lnTo>
                  <a:lnTo>
                    <a:pt x="1144136" y="270416"/>
                  </a:lnTo>
                  <a:lnTo>
                    <a:pt x="1166310" y="308513"/>
                  </a:lnTo>
                  <a:lnTo>
                    <a:pt x="1184862" y="348299"/>
                  </a:lnTo>
                  <a:lnTo>
                    <a:pt x="1199610" y="389617"/>
                  </a:lnTo>
                  <a:lnTo>
                    <a:pt x="1210371" y="432313"/>
                  </a:lnTo>
                  <a:lnTo>
                    <a:pt x="1216962" y="476228"/>
                  </a:lnTo>
                  <a:lnTo>
                    <a:pt x="1219200" y="521208"/>
                  </a:lnTo>
                  <a:lnTo>
                    <a:pt x="1216962" y="566187"/>
                  </a:lnTo>
                  <a:lnTo>
                    <a:pt x="1210371" y="610102"/>
                  </a:lnTo>
                  <a:lnTo>
                    <a:pt x="1199610" y="652798"/>
                  </a:lnTo>
                  <a:lnTo>
                    <a:pt x="1184862" y="694116"/>
                  </a:lnTo>
                  <a:lnTo>
                    <a:pt x="1166310" y="733902"/>
                  </a:lnTo>
                  <a:lnTo>
                    <a:pt x="1144136" y="771999"/>
                  </a:lnTo>
                  <a:lnTo>
                    <a:pt x="1118525" y="808250"/>
                  </a:lnTo>
                  <a:lnTo>
                    <a:pt x="1089658" y="842499"/>
                  </a:lnTo>
                  <a:lnTo>
                    <a:pt x="1057718" y="874590"/>
                  </a:lnTo>
                  <a:lnTo>
                    <a:pt x="1022889" y="904367"/>
                  </a:lnTo>
                  <a:lnTo>
                    <a:pt x="985354" y="931673"/>
                  </a:lnTo>
                  <a:lnTo>
                    <a:pt x="945295" y="956351"/>
                  </a:lnTo>
                  <a:lnTo>
                    <a:pt x="902896" y="978247"/>
                  </a:lnTo>
                  <a:lnTo>
                    <a:pt x="858340" y="997203"/>
                  </a:lnTo>
                  <a:lnTo>
                    <a:pt x="811809" y="1013062"/>
                  </a:lnTo>
                  <a:lnTo>
                    <a:pt x="763486" y="1025670"/>
                  </a:lnTo>
                  <a:lnTo>
                    <a:pt x="713555" y="1034869"/>
                  </a:lnTo>
                  <a:lnTo>
                    <a:pt x="662199" y="1040503"/>
                  </a:lnTo>
                  <a:lnTo>
                    <a:pt x="609600" y="1042416"/>
                  </a:lnTo>
                  <a:lnTo>
                    <a:pt x="557000" y="1040503"/>
                  </a:lnTo>
                  <a:lnTo>
                    <a:pt x="505644" y="1034869"/>
                  </a:lnTo>
                  <a:lnTo>
                    <a:pt x="455713" y="1025670"/>
                  </a:lnTo>
                  <a:lnTo>
                    <a:pt x="407390" y="1013062"/>
                  </a:lnTo>
                  <a:lnTo>
                    <a:pt x="360859" y="997203"/>
                  </a:lnTo>
                  <a:lnTo>
                    <a:pt x="316303" y="978247"/>
                  </a:lnTo>
                  <a:lnTo>
                    <a:pt x="273904" y="956351"/>
                  </a:lnTo>
                  <a:lnTo>
                    <a:pt x="233845" y="931673"/>
                  </a:lnTo>
                  <a:lnTo>
                    <a:pt x="196310" y="904367"/>
                  </a:lnTo>
                  <a:lnTo>
                    <a:pt x="161481" y="874590"/>
                  </a:lnTo>
                  <a:lnTo>
                    <a:pt x="129541" y="842499"/>
                  </a:lnTo>
                  <a:lnTo>
                    <a:pt x="100674" y="808250"/>
                  </a:lnTo>
                  <a:lnTo>
                    <a:pt x="75063" y="771999"/>
                  </a:lnTo>
                  <a:lnTo>
                    <a:pt x="52889" y="733902"/>
                  </a:lnTo>
                  <a:lnTo>
                    <a:pt x="34337" y="694116"/>
                  </a:lnTo>
                  <a:lnTo>
                    <a:pt x="19589" y="652798"/>
                  </a:lnTo>
                  <a:lnTo>
                    <a:pt x="8828" y="610102"/>
                  </a:lnTo>
                  <a:lnTo>
                    <a:pt x="2237" y="566187"/>
                  </a:lnTo>
                  <a:lnTo>
                    <a:pt x="0" y="521208"/>
                  </a:lnTo>
                  <a:close/>
                </a:path>
              </a:pathLst>
            </a:custGeom>
            <a:ln w="2857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43144" y="3169920"/>
              <a:ext cx="240791" cy="216408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58422" y="2701490"/>
            <a:ext cx="1004806" cy="270984"/>
          </a:xfrm>
          <a:prstGeom prst="rect">
            <a:avLst/>
          </a:prstGeom>
        </p:spPr>
      </p:pic>
      <p:sp>
        <p:nvSpPr>
          <p:cNvPr id="12" name="object 2">
            <a:extLst>
              <a:ext uri="{FF2B5EF4-FFF2-40B4-BE49-F238E27FC236}">
                <a16:creationId xmlns:a16="http://schemas.microsoft.com/office/drawing/2014/main" id="{4109F6A0-EB13-C301-701D-9BDA340DAB2D}"/>
              </a:ext>
            </a:extLst>
          </p:cNvPr>
          <p:cNvSpPr txBox="1">
            <a:spLocks/>
          </p:cNvSpPr>
          <p:nvPr/>
        </p:nvSpPr>
        <p:spPr>
          <a:xfrm>
            <a:off x="838200" y="682299"/>
            <a:ext cx="10515600" cy="691215"/>
          </a:xfrm>
          <a:prstGeom prst="rect">
            <a:avLst/>
          </a:prstGeom>
        </p:spPr>
        <p:txBody>
          <a:bodyPr vert="horz" wrap="square" lIns="0" tIns="1397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lang="en-US" spc="-10" dirty="0"/>
              <a:t>Venn</a:t>
            </a:r>
            <a:r>
              <a:rPr lang="en-US" spc="-195" dirty="0"/>
              <a:t> </a:t>
            </a:r>
            <a:r>
              <a:rPr lang="en-US" spc="-10" dirty="0"/>
              <a:t>Diagrams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0ABCC42A-39B5-733E-EF5D-8912ECE9695F}"/>
              </a:ext>
            </a:extLst>
          </p:cNvPr>
          <p:cNvSpPr txBox="1">
            <a:spLocks/>
          </p:cNvSpPr>
          <p:nvPr/>
        </p:nvSpPr>
        <p:spPr>
          <a:xfrm>
            <a:off x="8610600" y="6352338"/>
            <a:ext cx="2743200" cy="340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1935" algn="r">
              <a:lnSpc>
                <a:spcPts val="3135"/>
              </a:lnSpc>
            </a:pPr>
            <a:fld id="{81D60167-4931-47E6-BA6A-407CBD079E47}" type="slidenum">
              <a:rPr lang="en-US" sz="1200" spc="-50" smtClean="0">
                <a:solidFill>
                  <a:schemeClr val="bg1">
                    <a:lumMod val="50000"/>
                  </a:schemeClr>
                </a:solidFill>
              </a:rPr>
              <a:pPr marL="241935" algn="r">
                <a:lnSpc>
                  <a:spcPts val="3135"/>
                </a:lnSpc>
              </a:pPr>
              <a:t>6</a:t>
            </a:fld>
            <a:endParaRPr lang="en-US" sz="1200" spc="-5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513998"/>
              </p:ext>
            </p:extLst>
          </p:nvPr>
        </p:nvGraphicFramePr>
        <p:xfrm>
          <a:off x="843330" y="593890"/>
          <a:ext cx="9959340" cy="27960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1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112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</a:pPr>
                      <a:endParaRPr sz="4000" b="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119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28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U</a:t>
                      </a:r>
                      <a:r>
                        <a:rPr sz="28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nion:</a:t>
                      </a:r>
                      <a:r>
                        <a:rPr sz="2800" b="1" spc="-15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union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two</a:t>
                      </a:r>
                      <a:r>
                        <a:rPr sz="2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sets</a:t>
                      </a:r>
                      <a:endParaRPr lang="en-US" sz="2400" dirty="0"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1530"/>
                        </a:spcBef>
                        <a:tabLst>
                          <a:tab pos="2094864" algn="l"/>
                        </a:tabLst>
                      </a:pPr>
                      <a:r>
                        <a:rPr lang="en-US" sz="2400" b="1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lang="en-US" sz="2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400" b="1" dirty="0">
                          <a:latin typeface="Calibri"/>
                          <a:cs typeface="Calibri"/>
                        </a:rPr>
                        <a:t>objects</a:t>
                      </a:r>
                      <a:r>
                        <a:rPr lang="en-US"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400" b="1" spc="-25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lang="en-US" sz="24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lang="en-US" sz="2400" b="1" spc="-25" dirty="0">
                          <a:latin typeface="Calibri"/>
                          <a:cs typeface="Calibri"/>
                        </a:rPr>
                        <a:t>or</a:t>
                      </a:r>
                      <a:endParaRPr lang="en-US" sz="2400" dirty="0">
                        <a:latin typeface="Calibri"/>
                        <a:cs typeface="Calibri"/>
                      </a:endParaRPr>
                    </a:p>
                  </a:txBody>
                  <a:tcPr marL="0" marR="0" marT="172085" marB="0"/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175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and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2885" marB="0"/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ct val="100000"/>
                        </a:lnSpc>
                        <a:spcBef>
                          <a:spcPts val="1755"/>
                        </a:spcBef>
                        <a:tabLst>
                          <a:tab pos="3288665" algn="l"/>
                        </a:tabLst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denoted</a:t>
                      </a:r>
                      <a:r>
                        <a:rPr sz="2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	and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consist</a:t>
                      </a:r>
                      <a:r>
                        <a:rPr sz="24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of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2228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703">
                <a:tc>
                  <a:txBody>
                    <a:bodyPr/>
                    <a:lstStyle/>
                    <a:p>
                      <a:pPr marL="201041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2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1098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or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10985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34611" y="1702070"/>
            <a:ext cx="240791" cy="2164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96146" y="1711497"/>
            <a:ext cx="246887" cy="2072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30329" y="1704836"/>
            <a:ext cx="896112" cy="2225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0899" y="2268716"/>
            <a:ext cx="240792" cy="2164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02900" y="2268716"/>
            <a:ext cx="338327" cy="2103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5255" y="3021919"/>
            <a:ext cx="1786127" cy="304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02479" y="3003065"/>
            <a:ext cx="1100327" cy="304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15455" y="2993638"/>
            <a:ext cx="1216152" cy="304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8303" y="3686949"/>
            <a:ext cx="3087624" cy="27736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710142" y="3988702"/>
            <a:ext cx="213218" cy="239918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4307309" y="4082934"/>
            <a:ext cx="3326999" cy="1872698"/>
            <a:chOff x="4809490" y="4120641"/>
            <a:chExt cx="2716530" cy="1482090"/>
          </a:xfrm>
        </p:grpSpPr>
        <p:sp>
          <p:nvSpPr>
            <p:cNvPr id="14" name="object 14"/>
            <p:cNvSpPr/>
            <p:nvPr/>
          </p:nvSpPr>
          <p:spPr>
            <a:xfrm>
              <a:off x="4815840" y="4126991"/>
              <a:ext cx="2703830" cy="1469390"/>
            </a:xfrm>
            <a:custGeom>
              <a:avLst/>
              <a:gdLst/>
              <a:ahLst/>
              <a:cxnLst/>
              <a:rect l="l" t="t" r="r" b="b"/>
              <a:pathLst>
                <a:path w="2703829" h="1469389">
                  <a:moveTo>
                    <a:pt x="2703575" y="0"/>
                  </a:moveTo>
                  <a:lnTo>
                    <a:pt x="0" y="0"/>
                  </a:lnTo>
                  <a:lnTo>
                    <a:pt x="0" y="1469136"/>
                  </a:lnTo>
                  <a:lnTo>
                    <a:pt x="2703575" y="1469136"/>
                  </a:lnTo>
                  <a:lnTo>
                    <a:pt x="27035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15840" y="4126991"/>
              <a:ext cx="2703830" cy="1469390"/>
            </a:xfrm>
            <a:custGeom>
              <a:avLst/>
              <a:gdLst/>
              <a:ahLst/>
              <a:cxnLst/>
              <a:rect l="l" t="t" r="r" b="b"/>
              <a:pathLst>
                <a:path w="2703829" h="1469389">
                  <a:moveTo>
                    <a:pt x="0" y="1469136"/>
                  </a:moveTo>
                  <a:lnTo>
                    <a:pt x="2703575" y="1469136"/>
                  </a:lnTo>
                  <a:lnTo>
                    <a:pt x="2703575" y="0"/>
                  </a:lnTo>
                  <a:lnTo>
                    <a:pt x="0" y="0"/>
                  </a:lnTo>
                  <a:lnTo>
                    <a:pt x="0" y="14691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68468" y="4341875"/>
              <a:ext cx="1069975" cy="963294"/>
            </a:xfrm>
            <a:custGeom>
              <a:avLst/>
              <a:gdLst/>
              <a:ahLst/>
              <a:cxnLst/>
              <a:rect l="l" t="t" r="r" b="b"/>
              <a:pathLst>
                <a:path w="1069975" h="963295">
                  <a:moveTo>
                    <a:pt x="534924" y="0"/>
                  </a:moveTo>
                  <a:lnTo>
                    <a:pt x="483411" y="2204"/>
                  </a:lnTo>
                  <a:lnTo>
                    <a:pt x="433283" y="8684"/>
                  </a:lnTo>
                  <a:lnTo>
                    <a:pt x="384764" y="19238"/>
                  </a:lnTo>
                  <a:lnTo>
                    <a:pt x="338078" y="33662"/>
                  </a:lnTo>
                  <a:lnTo>
                    <a:pt x="293449" y="51756"/>
                  </a:lnTo>
                  <a:lnTo>
                    <a:pt x="251101" y="73317"/>
                  </a:lnTo>
                  <a:lnTo>
                    <a:pt x="211259" y="98144"/>
                  </a:lnTo>
                  <a:lnTo>
                    <a:pt x="174148" y="126034"/>
                  </a:lnTo>
                  <a:lnTo>
                    <a:pt x="139990" y="156786"/>
                  </a:lnTo>
                  <a:lnTo>
                    <a:pt x="109012" y="190197"/>
                  </a:lnTo>
                  <a:lnTo>
                    <a:pt x="81436" y="226066"/>
                  </a:lnTo>
                  <a:lnTo>
                    <a:pt x="57487" y="264191"/>
                  </a:lnTo>
                  <a:lnTo>
                    <a:pt x="37389" y="304370"/>
                  </a:lnTo>
                  <a:lnTo>
                    <a:pt x="21368" y="346400"/>
                  </a:lnTo>
                  <a:lnTo>
                    <a:pt x="9646" y="390081"/>
                  </a:lnTo>
                  <a:lnTo>
                    <a:pt x="2449" y="435209"/>
                  </a:lnTo>
                  <a:lnTo>
                    <a:pt x="0" y="481584"/>
                  </a:lnTo>
                  <a:lnTo>
                    <a:pt x="2449" y="527958"/>
                  </a:lnTo>
                  <a:lnTo>
                    <a:pt x="9646" y="573086"/>
                  </a:lnTo>
                  <a:lnTo>
                    <a:pt x="21368" y="616767"/>
                  </a:lnTo>
                  <a:lnTo>
                    <a:pt x="37389" y="658797"/>
                  </a:lnTo>
                  <a:lnTo>
                    <a:pt x="57487" y="698976"/>
                  </a:lnTo>
                  <a:lnTo>
                    <a:pt x="81436" y="737101"/>
                  </a:lnTo>
                  <a:lnTo>
                    <a:pt x="109012" y="772970"/>
                  </a:lnTo>
                  <a:lnTo>
                    <a:pt x="139990" y="806381"/>
                  </a:lnTo>
                  <a:lnTo>
                    <a:pt x="174148" y="837133"/>
                  </a:lnTo>
                  <a:lnTo>
                    <a:pt x="211259" y="865023"/>
                  </a:lnTo>
                  <a:lnTo>
                    <a:pt x="251101" y="889850"/>
                  </a:lnTo>
                  <a:lnTo>
                    <a:pt x="293449" y="911411"/>
                  </a:lnTo>
                  <a:lnTo>
                    <a:pt x="338078" y="929505"/>
                  </a:lnTo>
                  <a:lnTo>
                    <a:pt x="384764" y="943929"/>
                  </a:lnTo>
                  <a:lnTo>
                    <a:pt x="433283" y="954483"/>
                  </a:lnTo>
                  <a:lnTo>
                    <a:pt x="483411" y="960963"/>
                  </a:lnTo>
                  <a:lnTo>
                    <a:pt x="534924" y="963168"/>
                  </a:lnTo>
                  <a:lnTo>
                    <a:pt x="586436" y="960963"/>
                  </a:lnTo>
                  <a:lnTo>
                    <a:pt x="636564" y="954483"/>
                  </a:lnTo>
                  <a:lnTo>
                    <a:pt x="685083" y="943929"/>
                  </a:lnTo>
                  <a:lnTo>
                    <a:pt x="731769" y="929505"/>
                  </a:lnTo>
                  <a:lnTo>
                    <a:pt x="776398" y="911411"/>
                  </a:lnTo>
                  <a:lnTo>
                    <a:pt x="818746" y="889850"/>
                  </a:lnTo>
                  <a:lnTo>
                    <a:pt x="858588" y="865023"/>
                  </a:lnTo>
                  <a:lnTo>
                    <a:pt x="895699" y="837133"/>
                  </a:lnTo>
                  <a:lnTo>
                    <a:pt x="929857" y="806381"/>
                  </a:lnTo>
                  <a:lnTo>
                    <a:pt x="960835" y="772970"/>
                  </a:lnTo>
                  <a:lnTo>
                    <a:pt x="988411" y="737101"/>
                  </a:lnTo>
                  <a:lnTo>
                    <a:pt x="1012360" y="698976"/>
                  </a:lnTo>
                  <a:lnTo>
                    <a:pt x="1032458" y="658797"/>
                  </a:lnTo>
                  <a:lnTo>
                    <a:pt x="1048479" y="616767"/>
                  </a:lnTo>
                  <a:lnTo>
                    <a:pt x="1060201" y="573086"/>
                  </a:lnTo>
                  <a:lnTo>
                    <a:pt x="1067398" y="527958"/>
                  </a:lnTo>
                  <a:lnTo>
                    <a:pt x="1069848" y="481584"/>
                  </a:lnTo>
                  <a:lnTo>
                    <a:pt x="1067398" y="435209"/>
                  </a:lnTo>
                  <a:lnTo>
                    <a:pt x="1060201" y="390081"/>
                  </a:lnTo>
                  <a:lnTo>
                    <a:pt x="1048479" y="346400"/>
                  </a:lnTo>
                  <a:lnTo>
                    <a:pt x="1032458" y="304370"/>
                  </a:lnTo>
                  <a:lnTo>
                    <a:pt x="1012360" y="264191"/>
                  </a:lnTo>
                  <a:lnTo>
                    <a:pt x="988411" y="226066"/>
                  </a:lnTo>
                  <a:lnTo>
                    <a:pt x="960835" y="190197"/>
                  </a:lnTo>
                  <a:lnTo>
                    <a:pt x="929857" y="156786"/>
                  </a:lnTo>
                  <a:lnTo>
                    <a:pt x="895699" y="126034"/>
                  </a:lnTo>
                  <a:lnTo>
                    <a:pt x="858588" y="98144"/>
                  </a:lnTo>
                  <a:lnTo>
                    <a:pt x="818746" y="73317"/>
                  </a:lnTo>
                  <a:lnTo>
                    <a:pt x="776398" y="51756"/>
                  </a:lnTo>
                  <a:lnTo>
                    <a:pt x="731769" y="33662"/>
                  </a:lnTo>
                  <a:lnTo>
                    <a:pt x="685083" y="19238"/>
                  </a:lnTo>
                  <a:lnTo>
                    <a:pt x="636564" y="8684"/>
                  </a:lnTo>
                  <a:lnTo>
                    <a:pt x="586436" y="2204"/>
                  </a:lnTo>
                  <a:lnTo>
                    <a:pt x="534924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68468" y="4341875"/>
              <a:ext cx="1069975" cy="963294"/>
            </a:xfrm>
            <a:custGeom>
              <a:avLst/>
              <a:gdLst/>
              <a:ahLst/>
              <a:cxnLst/>
              <a:rect l="l" t="t" r="r" b="b"/>
              <a:pathLst>
                <a:path w="1069975" h="963295">
                  <a:moveTo>
                    <a:pt x="0" y="481584"/>
                  </a:moveTo>
                  <a:lnTo>
                    <a:pt x="2449" y="435209"/>
                  </a:lnTo>
                  <a:lnTo>
                    <a:pt x="9646" y="390081"/>
                  </a:lnTo>
                  <a:lnTo>
                    <a:pt x="21368" y="346400"/>
                  </a:lnTo>
                  <a:lnTo>
                    <a:pt x="37389" y="304370"/>
                  </a:lnTo>
                  <a:lnTo>
                    <a:pt x="57487" y="264191"/>
                  </a:lnTo>
                  <a:lnTo>
                    <a:pt x="81436" y="226066"/>
                  </a:lnTo>
                  <a:lnTo>
                    <a:pt x="109012" y="190197"/>
                  </a:lnTo>
                  <a:lnTo>
                    <a:pt x="139990" y="156786"/>
                  </a:lnTo>
                  <a:lnTo>
                    <a:pt x="174148" y="126034"/>
                  </a:lnTo>
                  <a:lnTo>
                    <a:pt x="211259" y="98144"/>
                  </a:lnTo>
                  <a:lnTo>
                    <a:pt x="251101" y="73317"/>
                  </a:lnTo>
                  <a:lnTo>
                    <a:pt x="293449" y="51756"/>
                  </a:lnTo>
                  <a:lnTo>
                    <a:pt x="338078" y="33662"/>
                  </a:lnTo>
                  <a:lnTo>
                    <a:pt x="384764" y="19238"/>
                  </a:lnTo>
                  <a:lnTo>
                    <a:pt x="433283" y="8684"/>
                  </a:lnTo>
                  <a:lnTo>
                    <a:pt x="483411" y="2204"/>
                  </a:lnTo>
                  <a:lnTo>
                    <a:pt x="534924" y="0"/>
                  </a:lnTo>
                  <a:lnTo>
                    <a:pt x="586436" y="2204"/>
                  </a:lnTo>
                  <a:lnTo>
                    <a:pt x="636564" y="8684"/>
                  </a:lnTo>
                  <a:lnTo>
                    <a:pt x="685083" y="19238"/>
                  </a:lnTo>
                  <a:lnTo>
                    <a:pt x="731769" y="33662"/>
                  </a:lnTo>
                  <a:lnTo>
                    <a:pt x="776398" y="51756"/>
                  </a:lnTo>
                  <a:lnTo>
                    <a:pt x="818746" y="73317"/>
                  </a:lnTo>
                  <a:lnTo>
                    <a:pt x="858588" y="98144"/>
                  </a:lnTo>
                  <a:lnTo>
                    <a:pt x="895699" y="126034"/>
                  </a:lnTo>
                  <a:lnTo>
                    <a:pt x="929857" y="156786"/>
                  </a:lnTo>
                  <a:lnTo>
                    <a:pt x="960835" y="190197"/>
                  </a:lnTo>
                  <a:lnTo>
                    <a:pt x="988411" y="226066"/>
                  </a:lnTo>
                  <a:lnTo>
                    <a:pt x="1012360" y="264191"/>
                  </a:lnTo>
                  <a:lnTo>
                    <a:pt x="1032458" y="304370"/>
                  </a:lnTo>
                  <a:lnTo>
                    <a:pt x="1048479" y="346400"/>
                  </a:lnTo>
                  <a:lnTo>
                    <a:pt x="1060201" y="390081"/>
                  </a:lnTo>
                  <a:lnTo>
                    <a:pt x="1067398" y="435209"/>
                  </a:lnTo>
                  <a:lnTo>
                    <a:pt x="1069848" y="481584"/>
                  </a:lnTo>
                  <a:lnTo>
                    <a:pt x="1067398" y="527958"/>
                  </a:lnTo>
                  <a:lnTo>
                    <a:pt x="1060201" y="573086"/>
                  </a:lnTo>
                  <a:lnTo>
                    <a:pt x="1048479" y="616767"/>
                  </a:lnTo>
                  <a:lnTo>
                    <a:pt x="1032458" y="658797"/>
                  </a:lnTo>
                  <a:lnTo>
                    <a:pt x="1012360" y="698976"/>
                  </a:lnTo>
                  <a:lnTo>
                    <a:pt x="988411" y="737101"/>
                  </a:lnTo>
                  <a:lnTo>
                    <a:pt x="960835" y="772970"/>
                  </a:lnTo>
                  <a:lnTo>
                    <a:pt x="929857" y="806381"/>
                  </a:lnTo>
                  <a:lnTo>
                    <a:pt x="895699" y="837133"/>
                  </a:lnTo>
                  <a:lnTo>
                    <a:pt x="858588" y="865023"/>
                  </a:lnTo>
                  <a:lnTo>
                    <a:pt x="818746" y="889850"/>
                  </a:lnTo>
                  <a:lnTo>
                    <a:pt x="776398" y="911411"/>
                  </a:lnTo>
                  <a:lnTo>
                    <a:pt x="731769" y="929505"/>
                  </a:lnTo>
                  <a:lnTo>
                    <a:pt x="685083" y="943929"/>
                  </a:lnTo>
                  <a:lnTo>
                    <a:pt x="636564" y="954483"/>
                  </a:lnTo>
                  <a:lnTo>
                    <a:pt x="586436" y="960963"/>
                  </a:lnTo>
                  <a:lnTo>
                    <a:pt x="534924" y="963168"/>
                  </a:lnTo>
                  <a:lnTo>
                    <a:pt x="483411" y="960963"/>
                  </a:lnTo>
                  <a:lnTo>
                    <a:pt x="433283" y="954483"/>
                  </a:lnTo>
                  <a:lnTo>
                    <a:pt x="384764" y="943929"/>
                  </a:lnTo>
                  <a:lnTo>
                    <a:pt x="338078" y="929505"/>
                  </a:lnTo>
                  <a:lnTo>
                    <a:pt x="293449" y="911411"/>
                  </a:lnTo>
                  <a:lnTo>
                    <a:pt x="251101" y="889850"/>
                  </a:lnTo>
                  <a:lnTo>
                    <a:pt x="211259" y="865023"/>
                  </a:lnTo>
                  <a:lnTo>
                    <a:pt x="174148" y="837133"/>
                  </a:lnTo>
                  <a:lnTo>
                    <a:pt x="139990" y="806381"/>
                  </a:lnTo>
                  <a:lnTo>
                    <a:pt x="109012" y="772970"/>
                  </a:lnTo>
                  <a:lnTo>
                    <a:pt x="81436" y="737101"/>
                  </a:lnTo>
                  <a:lnTo>
                    <a:pt x="57487" y="698976"/>
                  </a:lnTo>
                  <a:lnTo>
                    <a:pt x="37389" y="658797"/>
                  </a:lnTo>
                  <a:lnTo>
                    <a:pt x="21368" y="616767"/>
                  </a:lnTo>
                  <a:lnTo>
                    <a:pt x="9646" y="573086"/>
                  </a:lnTo>
                  <a:lnTo>
                    <a:pt x="2449" y="527958"/>
                  </a:lnTo>
                  <a:lnTo>
                    <a:pt x="0" y="481584"/>
                  </a:lnTo>
                  <a:close/>
                </a:path>
              </a:pathLst>
            </a:custGeom>
            <a:ln w="2857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38216" y="4724399"/>
              <a:ext cx="222503" cy="19811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085332" y="4341875"/>
              <a:ext cx="1073150" cy="963294"/>
            </a:xfrm>
            <a:custGeom>
              <a:avLst/>
              <a:gdLst/>
              <a:ahLst/>
              <a:cxnLst/>
              <a:rect l="l" t="t" r="r" b="b"/>
              <a:pathLst>
                <a:path w="1073150" h="963295">
                  <a:moveTo>
                    <a:pt x="536447" y="0"/>
                  </a:moveTo>
                  <a:lnTo>
                    <a:pt x="484781" y="2204"/>
                  </a:lnTo>
                  <a:lnTo>
                    <a:pt x="434505" y="8684"/>
                  </a:lnTo>
                  <a:lnTo>
                    <a:pt x="385843" y="19238"/>
                  </a:lnTo>
                  <a:lnTo>
                    <a:pt x="339021" y="33662"/>
                  </a:lnTo>
                  <a:lnTo>
                    <a:pt x="294264" y="51756"/>
                  </a:lnTo>
                  <a:lnTo>
                    <a:pt x="251796" y="73317"/>
                  </a:lnTo>
                  <a:lnTo>
                    <a:pt x="211841" y="98144"/>
                  </a:lnTo>
                  <a:lnTo>
                    <a:pt x="174625" y="126034"/>
                  </a:lnTo>
                  <a:lnTo>
                    <a:pt x="140373" y="156786"/>
                  </a:lnTo>
                  <a:lnTo>
                    <a:pt x="109308" y="190197"/>
                  </a:lnTo>
                  <a:lnTo>
                    <a:pt x="81656" y="226066"/>
                  </a:lnTo>
                  <a:lnTo>
                    <a:pt x="57642" y="264191"/>
                  </a:lnTo>
                  <a:lnTo>
                    <a:pt x="37490" y="304370"/>
                  </a:lnTo>
                  <a:lnTo>
                    <a:pt x="21425" y="346400"/>
                  </a:lnTo>
                  <a:lnTo>
                    <a:pt x="9672" y="390081"/>
                  </a:lnTo>
                  <a:lnTo>
                    <a:pt x="2455" y="435209"/>
                  </a:lnTo>
                  <a:lnTo>
                    <a:pt x="0" y="481584"/>
                  </a:lnTo>
                  <a:lnTo>
                    <a:pt x="2455" y="527958"/>
                  </a:lnTo>
                  <a:lnTo>
                    <a:pt x="9672" y="573086"/>
                  </a:lnTo>
                  <a:lnTo>
                    <a:pt x="21425" y="616767"/>
                  </a:lnTo>
                  <a:lnTo>
                    <a:pt x="37490" y="658797"/>
                  </a:lnTo>
                  <a:lnTo>
                    <a:pt x="57642" y="698976"/>
                  </a:lnTo>
                  <a:lnTo>
                    <a:pt x="81656" y="737101"/>
                  </a:lnTo>
                  <a:lnTo>
                    <a:pt x="109308" y="772970"/>
                  </a:lnTo>
                  <a:lnTo>
                    <a:pt x="140373" y="806381"/>
                  </a:lnTo>
                  <a:lnTo>
                    <a:pt x="174625" y="837133"/>
                  </a:lnTo>
                  <a:lnTo>
                    <a:pt x="211841" y="865023"/>
                  </a:lnTo>
                  <a:lnTo>
                    <a:pt x="251796" y="889850"/>
                  </a:lnTo>
                  <a:lnTo>
                    <a:pt x="294264" y="911411"/>
                  </a:lnTo>
                  <a:lnTo>
                    <a:pt x="339021" y="929505"/>
                  </a:lnTo>
                  <a:lnTo>
                    <a:pt x="385843" y="943929"/>
                  </a:lnTo>
                  <a:lnTo>
                    <a:pt x="434505" y="954483"/>
                  </a:lnTo>
                  <a:lnTo>
                    <a:pt x="484781" y="960963"/>
                  </a:lnTo>
                  <a:lnTo>
                    <a:pt x="536447" y="963168"/>
                  </a:lnTo>
                  <a:lnTo>
                    <a:pt x="588114" y="960963"/>
                  </a:lnTo>
                  <a:lnTo>
                    <a:pt x="638390" y="954483"/>
                  </a:lnTo>
                  <a:lnTo>
                    <a:pt x="687052" y="943929"/>
                  </a:lnTo>
                  <a:lnTo>
                    <a:pt x="733874" y="929505"/>
                  </a:lnTo>
                  <a:lnTo>
                    <a:pt x="778631" y="911411"/>
                  </a:lnTo>
                  <a:lnTo>
                    <a:pt x="821099" y="889850"/>
                  </a:lnTo>
                  <a:lnTo>
                    <a:pt x="861054" y="865023"/>
                  </a:lnTo>
                  <a:lnTo>
                    <a:pt x="898270" y="837133"/>
                  </a:lnTo>
                  <a:lnTo>
                    <a:pt x="932522" y="806381"/>
                  </a:lnTo>
                  <a:lnTo>
                    <a:pt x="963587" y="772970"/>
                  </a:lnTo>
                  <a:lnTo>
                    <a:pt x="991239" y="737101"/>
                  </a:lnTo>
                  <a:lnTo>
                    <a:pt x="1015253" y="698976"/>
                  </a:lnTo>
                  <a:lnTo>
                    <a:pt x="1035405" y="658797"/>
                  </a:lnTo>
                  <a:lnTo>
                    <a:pt x="1051470" y="616767"/>
                  </a:lnTo>
                  <a:lnTo>
                    <a:pt x="1063223" y="573086"/>
                  </a:lnTo>
                  <a:lnTo>
                    <a:pt x="1070440" y="527958"/>
                  </a:lnTo>
                  <a:lnTo>
                    <a:pt x="1072895" y="481584"/>
                  </a:lnTo>
                  <a:lnTo>
                    <a:pt x="1070440" y="435209"/>
                  </a:lnTo>
                  <a:lnTo>
                    <a:pt x="1063223" y="390081"/>
                  </a:lnTo>
                  <a:lnTo>
                    <a:pt x="1051470" y="346400"/>
                  </a:lnTo>
                  <a:lnTo>
                    <a:pt x="1035405" y="304370"/>
                  </a:lnTo>
                  <a:lnTo>
                    <a:pt x="1015253" y="264191"/>
                  </a:lnTo>
                  <a:lnTo>
                    <a:pt x="991239" y="226066"/>
                  </a:lnTo>
                  <a:lnTo>
                    <a:pt x="963587" y="190197"/>
                  </a:lnTo>
                  <a:lnTo>
                    <a:pt x="932522" y="156786"/>
                  </a:lnTo>
                  <a:lnTo>
                    <a:pt x="898270" y="126034"/>
                  </a:lnTo>
                  <a:lnTo>
                    <a:pt x="861054" y="98144"/>
                  </a:lnTo>
                  <a:lnTo>
                    <a:pt x="821099" y="73317"/>
                  </a:lnTo>
                  <a:lnTo>
                    <a:pt x="778631" y="51756"/>
                  </a:lnTo>
                  <a:lnTo>
                    <a:pt x="733874" y="33662"/>
                  </a:lnTo>
                  <a:lnTo>
                    <a:pt x="687052" y="19238"/>
                  </a:lnTo>
                  <a:lnTo>
                    <a:pt x="638390" y="8684"/>
                  </a:lnTo>
                  <a:lnTo>
                    <a:pt x="588114" y="2204"/>
                  </a:lnTo>
                  <a:lnTo>
                    <a:pt x="536447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85332" y="4341875"/>
              <a:ext cx="1073150" cy="963294"/>
            </a:xfrm>
            <a:custGeom>
              <a:avLst/>
              <a:gdLst/>
              <a:ahLst/>
              <a:cxnLst/>
              <a:rect l="l" t="t" r="r" b="b"/>
              <a:pathLst>
                <a:path w="1073150" h="963295">
                  <a:moveTo>
                    <a:pt x="0" y="481584"/>
                  </a:moveTo>
                  <a:lnTo>
                    <a:pt x="2455" y="435209"/>
                  </a:lnTo>
                  <a:lnTo>
                    <a:pt x="9672" y="390081"/>
                  </a:lnTo>
                  <a:lnTo>
                    <a:pt x="21425" y="346400"/>
                  </a:lnTo>
                  <a:lnTo>
                    <a:pt x="37490" y="304370"/>
                  </a:lnTo>
                  <a:lnTo>
                    <a:pt x="57642" y="264191"/>
                  </a:lnTo>
                  <a:lnTo>
                    <a:pt x="81656" y="226066"/>
                  </a:lnTo>
                  <a:lnTo>
                    <a:pt x="109308" y="190197"/>
                  </a:lnTo>
                  <a:lnTo>
                    <a:pt x="140373" y="156786"/>
                  </a:lnTo>
                  <a:lnTo>
                    <a:pt x="174625" y="126034"/>
                  </a:lnTo>
                  <a:lnTo>
                    <a:pt x="211841" y="98144"/>
                  </a:lnTo>
                  <a:lnTo>
                    <a:pt x="251796" y="73317"/>
                  </a:lnTo>
                  <a:lnTo>
                    <a:pt x="294264" y="51756"/>
                  </a:lnTo>
                  <a:lnTo>
                    <a:pt x="339021" y="33662"/>
                  </a:lnTo>
                  <a:lnTo>
                    <a:pt x="385843" y="19238"/>
                  </a:lnTo>
                  <a:lnTo>
                    <a:pt x="434505" y="8684"/>
                  </a:lnTo>
                  <a:lnTo>
                    <a:pt x="484781" y="2204"/>
                  </a:lnTo>
                  <a:lnTo>
                    <a:pt x="536447" y="0"/>
                  </a:lnTo>
                  <a:lnTo>
                    <a:pt x="588114" y="2204"/>
                  </a:lnTo>
                  <a:lnTo>
                    <a:pt x="638390" y="8684"/>
                  </a:lnTo>
                  <a:lnTo>
                    <a:pt x="687052" y="19238"/>
                  </a:lnTo>
                  <a:lnTo>
                    <a:pt x="733874" y="33662"/>
                  </a:lnTo>
                  <a:lnTo>
                    <a:pt x="778631" y="51756"/>
                  </a:lnTo>
                  <a:lnTo>
                    <a:pt x="821099" y="73317"/>
                  </a:lnTo>
                  <a:lnTo>
                    <a:pt x="861054" y="98144"/>
                  </a:lnTo>
                  <a:lnTo>
                    <a:pt x="898270" y="126034"/>
                  </a:lnTo>
                  <a:lnTo>
                    <a:pt x="932522" y="156786"/>
                  </a:lnTo>
                  <a:lnTo>
                    <a:pt x="963587" y="190197"/>
                  </a:lnTo>
                  <a:lnTo>
                    <a:pt x="991239" y="226066"/>
                  </a:lnTo>
                  <a:lnTo>
                    <a:pt x="1015253" y="264191"/>
                  </a:lnTo>
                  <a:lnTo>
                    <a:pt x="1035405" y="304370"/>
                  </a:lnTo>
                  <a:lnTo>
                    <a:pt x="1051470" y="346400"/>
                  </a:lnTo>
                  <a:lnTo>
                    <a:pt x="1063223" y="390081"/>
                  </a:lnTo>
                  <a:lnTo>
                    <a:pt x="1070440" y="435209"/>
                  </a:lnTo>
                  <a:lnTo>
                    <a:pt x="1072895" y="481584"/>
                  </a:lnTo>
                  <a:lnTo>
                    <a:pt x="1070440" y="527958"/>
                  </a:lnTo>
                  <a:lnTo>
                    <a:pt x="1063223" y="573086"/>
                  </a:lnTo>
                  <a:lnTo>
                    <a:pt x="1051470" y="616767"/>
                  </a:lnTo>
                  <a:lnTo>
                    <a:pt x="1035405" y="658797"/>
                  </a:lnTo>
                  <a:lnTo>
                    <a:pt x="1015253" y="698976"/>
                  </a:lnTo>
                  <a:lnTo>
                    <a:pt x="991239" y="737101"/>
                  </a:lnTo>
                  <a:lnTo>
                    <a:pt x="963587" y="772970"/>
                  </a:lnTo>
                  <a:lnTo>
                    <a:pt x="932522" y="806381"/>
                  </a:lnTo>
                  <a:lnTo>
                    <a:pt x="898270" y="837133"/>
                  </a:lnTo>
                  <a:lnTo>
                    <a:pt x="861054" y="865023"/>
                  </a:lnTo>
                  <a:lnTo>
                    <a:pt x="821099" y="889850"/>
                  </a:lnTo>
                  <a:lnTo>
                    <a:pt x="778631" y="911411"/>
                  </a:lnTo>
                  <a:lnTo>
                    <a:pt x="733874" y="929505"/>
                  </a:lnTo>
                  <a:lnTo>
                    <a:pt x="687052" y="943929"/>
                  </a:lnTo>
                  <a:lnTo>
                    <a:pt x="638390" y="954483"/>
                  </a:lnTo>
                  <a:lnTo>
                    <a:pt x="588114" y="960963"/>
                  </a:lnTo>
                  <a:lnTo>
                    <a:pt x="536447" y="963168"/>
                  </a:lnTo>
                  <a:lnTo>
                    <a:pt x="484781" y="960963"/>
                  </a:lnTo>
                  <a:lnTo>
                    <a:pt x="434505" y="954483"/>
                  </a:lnTo>
                  <a:lnTo>
                    <a:pt x="385843" y="943929"/>
                  </a:lnTo>
                  <a:lnTo>
                    <a:pt x="339021" y="929505"/>
                  </a:lnTo>
                  <a:lnTo>
                    <a:pt x="294264" y="911411"/>
                  </a:lnTo>
                  <a:lnTo>
                    <a:pt x="251796" y="889850"/>
                  </a:lnTo>
                  <a:lnTo>
                    <a:pt x="211841" y="865023"/>
                  </a:lnTo>
                  <a:lnTo>
                    <a:pt x="174625" y="837133"/>
                  </a:lnTo>
                  <a:lnTo>
                    <a:pt x="140373" y="806381"/>
                  </a:lnTo>
                  <a:lnTo>
                    <a:pt x="109308" y="772970"/>
                  </a:lnTo>
                  <a:lnTo>
                    <a:pt x="81656" y="737101"/>
                  </a:lnTo>
                  <a:lnTo>
                    <a:pt x="57642" y="698976"/>
                  </a:lnTo>
                  <a:lnTo>
                    <a:pt x="37490" y="658797"/>
                  </a:lnTo>
                  <a:lnTo>
                    <a:pt x="21425" y="616767"/>
                  </a:lnTo>
                  <a:lnTo>
                    <a:pt x="9672" y="573086"/>
                  </a:lnTo>
                  <a:lnTo>
                    <a:pt x="2455" y="527958"/>
                  </a:lnTo>
                  <a:lnTo>
                    <a:pt x="0" y="481584"/>
                  </a:lnTo>
                  <a:close/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14160" y="4715255"/>
              <a:ext cx="225551" cy="19202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268468" y="4341875"/>
              <a:ext cx="1069975" cy="963294"/>
            </a:xfrm>
            <a:custGeom>
              <a:avLst/>
              <a:gdLst/>
              <a:ahLst/>
              <a:cxnLst/>
              <a:rect l="l" t="t" r="r" b="b"/>
              <a:pathLst>
                <a:path w="1069975" h="963295">
                  <a:moveTo>
                    <a:pt x="0" y="481584"/>
                  </a:moveTo>
                  <a:lnTo>
                    <a:pt x="2449" y="435209"/>
                  </a:lnTo>
                  <a:lnTo>
                    <a:pt x="9646" y="390081"/>
                  </a:lnTo>
                  <a:lnTo>
                    <a:pt x="21368" y="346400"/>
                  </a:lnTo>
                  <a:lnTo>
                    <a:pt x="37389" y="304370"/>
                  </a:lnTo>
                  <a:lnTo>
                    <a:pt x="57487" y="264191"/>
                  </a:lnTo>
                  <a:lnTo>
                    <a:pt x="81436" y="226066"/>
                  </a:lnTo>
                  <a:lnTo>
                    <a:pt x="109012" y="190197"/>
                  </a:lnTo>
                  <a:lnTo>
                    <a:pt x="139990" y="156786"/>
                  </a:lnTo>
                  <a:lnTo>
                    <a:pt x="174148" y="126034"/>
                  </a:lnTo>
                  <a:lnTo>
                    <a:pt x="211259" y="98144"/>
                  </a:lnTo>
                  <a:lnTo>
                    <a:pt x="251101" y="73317"/>
                  </a:lnTo>
                  <a:lnTo>
                    <a:pt x="293449" y="51756"/>
                  </a:lnTo>
                  <a:lnTo>
                    <a:pt x="338078" y="33662"/>
                  </a:lnTo>
                  <a:lnTo>
                    <a:pt x="384764" y="19238"/>
                  </a:lnTo>
                  <a:lnTo>
                    <a:pt x="433283" y="8684"/>
                  </a:lnTo>
                  <a:lnTo>
                    <a:pt x="483411" y="2204"/>
                  </a:lnTo>
                  <a:lnTo>
                    <a:pt x="534924" y="0"/>
                  </a:lnTo>
                  <a:lnTo>
                    <a:pt x="586436" y="2204"/>
                  </a:lnTo>
                  <a:lnTo>
                    <a:pt x="636564" y="8684"/>
                  </a:lnTo>
                  <a:lnTo>
                    <a:pt x="685083" y="19238"/>
                  </a:lnTo>
                  <a:lnTo>
                    <a:pt x="731769" y="33662"/>
                  </a:lnTo>
                  <a:lnTo>
                    <a:pt x="776398" y="51756"/>
                  </a:lnTo>
                  <a:lnTo>
                    <a:pt x="818746" y="73317"/>
                  </a:lnTo>
                  <a:lnTo>
                    <a:pt x="858588" y="98144"/>
                  </a:lnTo>
                  <a:lnTo>
                    <a:pt x="895699" y="126034"/>
                  </a:lnTo>
                  <a:lnTo>
                    <a:pt x="929857" y="156786"/>
                  </a:lnTo>
                  <a:lnTo>
                    <a:pt x="960835" y="190197"/>
                  </a:lnTo>
                  <a:lnTo>
                    <a:pt x="988411" y="226066"/>
                  </a:lnTo>
                  <a:lnTo>
                    <a:pt x="1012360" y="264191"/>
                  </a:lnTo>
                  <a:lnTo>
                    <a:pt x="1032458" y="304370"/>
                  </a:lnTo>
                  <a:lnTo>
                    <a:pt x="1048479" y="346400"/>
                  </a:lnTo>
                  <a:lnTo>
                    <a:pt x="1060201" y="390081"/>
                  </a:lnTo>
                  <a:lnTo>
                    <a:pt x="1067398" y="435209"/>
                  </a:lnTo>
                  <a:lnTo>
                    <a:pt x="1069848" y="481584"/>
                  </a:lnTo>
                  <a:lnTo>
                    <a:pt x="1067398" y="527958"/>
                  </a:lnTo>
                  <a:lnTo>
                    <a:pt x="1060201" y="573086"/>
                  </a:lnTo>
                  <a:lnTo>
                    <a:pt x="1048479" y="616767"/>
                  </a:lnTo>
                  <a:lnTo>
                    <a:pt x="1032458" y="658797"/>
                  </a:lnTo>
                  <a:lnTo>
                    <a:pt x="1012360" y="698976"/>
                  </a:lnTo>
                  <a:lnTo>
                    <a:pt x="988411" y="737101"/>
                  </a:lnTo>
                  <a:lnTo>
                    <a:pt x="960835" y="772970"/>
                  </a:lnTo>
                  <a:lnTo>
                    <a:pt x="929857" y="806381"/>
                  </a:lnTo>
                  <a:lnTo>
                    <a:pt x="895699" y="837133"/>
                  </a:lnTo>
                  <a:lnTo>
                    <a:pt x="858588" y="865023"/>
                  </a:lnTo>
                  <a:lnTo>
                    <a:pt x="818746" y="889850"/>
                  </a:lnTo>
                  <a:lnTo>
                    <a:pt x="776398" y="911411"/>
                  </a:lnTo>
                  <a:lnTo>
                    <a:pt x="731769" y="929505"/>
                  </a:lnTo>
                  <a:lnTo>
                    <a:pt x="685083" y="943929"/>
                  </a:lnTo>
                  <a:lnTo>
                    <a:pt x="636564" y="954483"/>
                  </a:lnTo>
                  <a:lnTo>
                    <a:pt x="586436" y="960963"/>
                  </a:lnTo>
                  <a:lnTo>
                    <a:pt x="534924" y="963168"/>
                  </a:lnTo>
                  <a:lnTo>
                    <a:pt x="483411" y="960963"/>
                  </a:lnTo>
                  <a:lnTo>
                    <a:pt x="433283" y="954483"/>
                  </a:lnTo>
                  <a:lnTo>
                    <a:pt x="384764" y="943929"/>
                  </a:lnTo>
                  <a:lnTo>
                    <a:pt x="338078" y="929505"/>
                  </a:lnTo>
                  <a:lnTo>
                    <a:pt x="293449" y="911411"/>
                  </a:lnTo>
                  <a:lnTo>
                    <a:pt x="251101" y="889850"/>
                  </a:lnTo>
                  <a:lnTo>
                    <a:pt x="211259" y="865023"/>
                  </a:lnTo>
                  <a:lnTo>
                    <a:pt x="174148" y="837133"/>
                  </a:lnTo>
                  <a:lnTo>
                    <a:pt x="139990" y="806381"/>
                  </a:lnTo>
                  <a:lnTo>
                    <a:pt x="109012" y="772970"/>
                  </a:lnTo>
                  <a:lnTo>
                    <a:pt x="81436" y="737101"/>
                  </a:lnTo>
                  <a:lnTo>
                    <a:pt x="57487" y="698976"/>
                  </a:lnTo>
                  <a:lnTo>
                    <a:pt x="37389" y="658797"/>
                  </a:lnTo>
                  <a:lnTo>
                    <a:pt x="21368" y="616767"/>
                  </a:lnTo>
                  <a:lnTo>
                    <a:pt x="9646" y="573086"/>
                  </a:lnTo>
                  <a:lnTo>
                    <a:pt x="2449" y="527958"/>
                  </a:lnTo>
                  <a:lnTo>
                    <a:pt x="0" y="481584"/>
                  </a:lnTo>
                  <a:close/>
                </a:path>
              </a:pathLst>
            </a:custGeom>
            <a:ln w="2857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C519DC38-0414-8AF5-4B12-8A6731629D1E}"/>
              </a:ext>
            </a:extLst>
          </p:cNvPr>
          <p:cNvSpPr txBox="1">
            <a:spLocks/>
          </p:cNvSpPr>
          <p:nvPr/>
        </p:nvSpPr>
        <p:spPr>
          <a:xfrm>
            <a:off x="838200" y="682299"/>
            <a:ext cx="10515600" cy="691215"/>
          </a:xfrm>
          <a:prstGeom prst="rect">
            <a:avLst/>
          </a:prstGeom>
        </p:spPr>
        <p:txBody>
          <a:bodyPr vert="horz" wrap="square" lIns="0" tIns="1397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lang="en-US" dirty="0"/>
              <a:t>Set</a:t>
            </a:r>
            <a:r>
              <a:rPr lang="en-US" spc="-50" dirty="0"/>
              <a:t> </a:t>
            </a:r>
            <a:r>
              <a:rPr lang="en-US" spc="-10" dirty="0"/>
              <a:t>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Set</a:t>
            </a:r>
            <a:r>
              <a:rPr spc="-5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902525" y="2088845"/>
            <a:ext cx="27508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5685" algn="l"/>
              </a:tabLst>
            </a:pPr>
            <a:r>
              <a:rPr sz="2400" b="1" spc="-25" dirty="0">
                <a:latin typeface="Calibri"/>
                <a:cs typeface="Calibri"/>
              </a:rPr>
              <a:t>and</a:t>
            </a:r>
            <a:r>
              <a:rPr sz="2400" b="1" dirty="0">
                <a:latin typeface="Calibri"/>
                <a:cs typeface="Calibri"/>
              </a:rPr>
              <a:t>	is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denoted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53492" y="2088845"/>
            <a:ext cx="21443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consist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all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1459283"/>
            <a:ext cx="3526790" cy="135064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Intersection: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2740"/>
              </a:lnSpc>
              <a:spcBef>
                <a:spcPts val="740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intersection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two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sets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40"/>
              </a:lnSpc>
              <a:tabLst>
                <a:tab pos="2444115" algn="l"/>
              </a:tabLst>
            </a:pPr>
            <a:r>
              <a:rPr sz="2400" b="1" dirty="0">
                <a:latin typeface="Calibri"/>
                <a:cs typeface="Calibri"/>
              </a:rPr>
              <a:t>objects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both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9907" y="2165430"/>
            <a:ext cx="240791" cy="2164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88598" y="2174857"/>
            <a:ext cx="246887" cy="2103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80411" y="2165430"/>
            <a:ext cx="896112" cy="22250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1610" y="2472175"/>
            <a:ext cx="240792" cy="2164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49642" y="2481602"/>
            <a:ext cx="338327" cy="210312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023359" y="3127248"/>
            <a:ext cx="4209415" cy="2133600"/>
            <a:chOff x="4023359" y="3127248"/>
            <a:chExt cx="4209415" cy="213360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76215" y="3127248"/>
              <a:ext cx="3456432" cy="2133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023359" y="4547489"/>
              <a:ext cx="2417445" cy="388620"/>
            </a:xfrm>
            <a:custGeom>
              <a:avLst/>
              <a:gdLst/>
              <a:ahLst/>
              <a:cxnLst/>
              <a:rect l="l" t="t" r="r" b="b"/>
              <a:pathLst>
                <a:path w="2417445" h="388620">
                  <a:moveTo>
                    <a:pt x="69850" y="313055"/>
                  </a:moveTo>
                  <a:lnTo>
                    <a:pt x="0" y="361823"/>
                  </a:lnTo>
                  <a:lnTo>
                    <a:pt x="80899" y="388366"/>
                  </a:lnTo>
                  <a:lnTo>
                    <a:pt x="76576" y="358902"/>
                  </a:lnTo>
                  <a:lnTo>
                    <a:pt x="63753" y="358902"/>
                  </a:lnTo>
                  <a:lnTo>
                    <a:pt x="61849" y="346329"/>
                  </a:lnTo>
                  <a:lnTo>
                    <a:pt x="74459" y="344473"/>
                  </a:lnTo>
                  <a:lnTo>
                    <a:pt x="69850" y="313055"/>
                  </a:lnTo>
                  <a:close/>
                </a:path>
                <a:path w="2417445" h="388620">
                  <a:moveTo>
                    <a:pt x="74459" y="344473"/>
                  </a:moveTo>
                  <a:lnTo>
                    <a:pt x="61849" y="346329"/>
                  </a:lnTo>
                  <a:lnTo>
                    <a:pt x="63753" y="358902"/>
                  </a:lnTo>
                  <a:lnTo>
                    <a:pt x="76305" y="357054"/>
                  </a:lnTo>
                  <a:lnTo>
                    <a:pt x="74459" y="344473"/>
                  </a:lnTo>
                  <a:close/>
                </a:path>
                <a:path w="2417445" h="388620">
                  <a:moveTo>
                    <a:pt x="76305" y="357054"/>
                  </a:moveTo>
                  <a:lnTo>
                    <a:pt x="63753" y="358902"/>
                  </a:lnTo>
                  <a:lnTo>
                    <a:pt x="76576" y="358902"/>
                  </a:lnTo>
                  <a:lnTo>
                    <a:pt x="76305" y="357054"/>
                  </a:lnTo>
                  <a:close/>
                </a:path>
                <a:path w="2417445" h="388620">
                  <a:moveTo>
                    <a:pt x="2415159" y="0"/>
                  </a:moveTo>
                  <a:lnTo>
                    <a:pt x="74459" y="344473"/>
                  </a:lnTo>
                  <a:lnTo>
                    <a:pt x="76305" y="357054"/>
                  </a:lnTo>
                  <a:lnTo>
                    <a:pt x="2416937" y="12446"/>
                  </a:lnTo>
                  <a:lnTo>
                    <a:pt x="24151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01111" y="4824984"/>
            <a:ext cx="89611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Set</a:t>
            </a:r>
            <a:r>
              <a:rPr spc="-5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594792" y="2086704"/>
            <a:ext cx="14630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denoted</a:t>
            </a:r>
            <a:r>
              <a:rPr sz="2400" b="1" spc="-13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12689" y="2086704"/>
            <a:ext cx="34080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elements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1457141"/>
            <a:ext cx="3152140" cy="135064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Complement</a:t>
            </a:r>
            <a:r>
              <a:rPr sz="2800" spc="-10" dirty="0">
                <a:solidFill>
                  <a:srgbClr val="4471C4"/>
                </a:solidFill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  <a:spcBef>
                <a:spcPts val="740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complement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set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</a:pP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lang="en-US" sz="2400" b="1" u="sng" spc="-45" dirty="0">
                <a:latin typeface="Calibri"/>
                <a:cs typeface="Calibri"/>
              </a:rPr>
              <a:t>n</a:t>
            </a:r>
            <a:r>
              <a:rPr sz="2400" b="1" u="sng" dirty="0">
                <a:latin typeface="Calibri"/>
                <a:cs typeface="Calibri"/>
              </a:rPr>
              <a:t>ot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in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43865" y="2132214"/>
            <a:ext cx="326136" cy="2743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28961" y="2129609"/>
            <a:ext cx="466343" cy="28041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88614" y="2148839"/>
            <a:ext cx="801624" cy="3017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746" y="2474092"/>
            <a:ext cx="323088" cy="2164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41207" y="4152790"/>
            <a:ext cx="1100327" cy="25908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188710" y="2744613"/>
            <a:ext cx="4619124" cy="3174923"/>
            <a:chOff x="4026408" y="2697479"/>
            <a:chExt cx="3781425" cy="281940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26408" y="2697479"/>
              <a:ext cx="3246119" cy="28194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703695" y="3378707"/>
              <a:ext cx="1104265" cy="363220"/>
            </a:xfrm>
            <a:custGeom>
              <a:avLst/>
              <a:gdLst/>
              <a:ahLst/>
              <a:cxnLst/>
              <a:rect l="l" t="t" r="r" b="b"/>
              <a:pathLst>
                <a:path w="1104265" h="363220">
                  <a:moveTo>
                    <a:pt x="1029358" y="30328"/>
                  </a:moveTo>
                  <a:lnTo>
                    <a:pt x="0" y="350519"/>
                  </a:lnTo>
                  <a:lnTo>
                    <a:pt x="3809" y="362711"/>
                  </a:lnTo>
                  <a:lnTo>
                    <a:pt x="1033101" y="42376"/>
                  </a:lnTo>
                  <a:lnTo>
                    <a:pt x="1029358" y="30328"/>
                  </a:lnTo>
                  <a:close/>
                </a:path>
                <a:path w="1104265" h="363220">
                  <a:moveTo>
                    <a:pt x="1090659" y="26542"/>
                  </a:moveTo>
                  <a:lnTo>
                    <a:pt x="1041526" y="26542"/>
                  </a:lnTo>
                  <a:lnTo>
                    <a:pt x="1045209" y="38607"/>
                  </a:lnTo>
                  <a:lnTo>
                    <a:pt x="1033101" y="42376"/>
                  </a:lnTo>
                  <a:lnTo>
                    <a:pt x="1042543" y="72770"/>
                  </a:lnTo>
                  <a:lnTo>
                    <a:pt x="1090659" y="26542"/>
                  </a:lnTo>
                  <a:close/>
                </a:path>
                <a:path w="1104265" h="363220">
                  <a:moveTo>
                    <a:pt x="1041526" y="26542"/>
                  </a:moveTo>
                  <a:lnTo>
                    <a:pt x="1029358" y="30328"/>
                  </a:lnTo>
                  <a:lnTo>
                    <a:pt x="1033101" y="42376"/>
                  </a:lnTo>
                  <a:lnTo>
                    <a:pt x="1045209" y="38607"/>
                  </a:lnTo>
                  <a:lnTo>
                    <a:pt x="1041526" y="26542"/>
                  </a:lnTo>
                  <a:close/>
                </a:path>
                <a:path w="1104265" h="363220">
                  <a:moveTo>
                    <a:pt x="1019936" y="0"/>
                  </a:moveTo>
                  <a:lnTo>
                    <a:pt x="1029358" y="30328"/>
                  </a:lnTo>
                  <a:lnTo>
                    <a:pt x="1041526" y="26542"/>
                  </a:lnTo>
                  <a:lnTo>
                    <a:pt x="1090659" y="26542"/>
                  </a:lnTo>
                  <a:lnTo>
                    <a:pt x="1104010" y="13715"/>
                  </a:lnTo>
                  <a:lnTo>
                    <a:pt x="10199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906511" y="3296302"/>
            <a:ext cx="371855" cy="2255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666105" y="2095812"/>
            <a:ext cx="2138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elements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53477" y="2095812"/>
            <a:ext cx="1595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3100" algn="l"/>
              </a:tabLst>
            </a:pPr>
            <a:r>
              <a:rPr sz="2400" b="1" spc="-20" dirty="0">
                <a:latin typeface="Calibri"/>
                <a:cs typeface="Calibri"/>
              </a:rPr>
              <a:t>that</a:t>
            </a:r>
            <a:r>
              <a:rPr sz="2400" b="1" dirty="0">
                <a:latin typeface="Calibri"/>
                <a:cs typeface="Calibri"/>
              </a:rPr>
              <a:t>	are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not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1445747"/>
            <a:ext cx="3940810" cy="1388841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Aft>
                <a:spcPts val="600"/>
              </a:spcAft>
            </a:pP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Difference</a:t>
            </a:r>
            <a:r>
              <a:rPr sz="2800" b="1" spc="-1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(subtraction):</a:t>
            </a:r>
            <a:endParaRPr sz="2800" dirty="0">
              <a:latin typeface="Calibri"/>
              <a:cs typeface="Calibri"/>
            </a:endParaRPr>
          </a:p>
          <a:p>
            <a:pPr marL="12700" marR="5080">
              <a:lnSpc>
                <a:spcPts val="2590"/>
              </a:lnSpc>
              <a:spcBef>
                <a:spcPts val="740"/>
              </a:spcBef>
              <a:tabLst>
                <a:tab pos="3312160" algn="l"/>
              </a:tabLst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subtraction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set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0" dirty="0">
                <a:latin typeface="Calibri"/>
                <a:cs typeface="Calibri"/>
              </a:rPr>
              <a:t>from </a:t>
            </a:r>
            <a:r>
              <a:rPr sz="2400" b="1" spc="-25" dirty="0">
                <a:latin typeface="Calibri"/>
                <a:cs typeface="Calibri"/>
              </a:rPr>
              <a:t>in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1909" y="2191756"/>
            <a:ext cx="240791" cy="2164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4278" y="2199697"/>
            <a:ext cx="246887" cy="2072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63389" y="2176519"/>
            <a:ext cx="1176527" cy="3017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1792" y="2181270"/>
            <a:ext cx="240792" cy="2164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95400" y="2529623"/>
            <a:ext cx="338328" cy="207263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890016" y="3039987"/>
            <a:ext cx="7388859" cy="2548255"/>
            <a:chOff x="890016" y="3002279"/>
            <a:chExt cx="7388859" cy="254825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0016" y="3002279"/>
              <a:ext cx="5949696" cy="30175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96839" y="3304031"/>
              <a:ext cx="3081527" cy="224637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477512" y="4614544"/>
              <a:ext cx="1731645" cy="287020"/>
            </a:xfrm>
            <a:custGeom>
              <a:avLst/>
              <a:gdLst/>
              <a:ahLst/>
              <a:cxnLst/>
              <a:rect l="l" t="t" r="r" b="b"/>
              <a:pathLst>
                <a:path w="1731645" h="287020">
                  <a:moveTo>
                    <a:pt x="69850" y="211454"/>
                  </a:moveTo>
                  <a:lnTo>
                    <a:pt x="0" y="260222"/>
                  </a:lnTo>
                  <a:lnTo>
                    <a:pt x="80899" y="286892"/>
                  </a:lnTo>
                  <a:lnTo>
                    <a:pt x="76564" y="257301"/>
                  </a:lnTo>
                  <a:lnTo>
                    <a:pt x="63753" y="257301"/>
                  </a:lnTo>
                  <a:lnTo>
                    <a:pt x="61849" y="244728"/>
                  </a:lnTo>
                  <a:lnTo>
                    <a:pt x="74452" y="242879"/>
                  </a:lnTo>
                  <a:lnTo>
                    <a:pt x="69850" y="211454"/>
                  </a:lnTo>
                  <a:close/>
                </a:path>
                <a:path w="1731645" h="287020">
                  <a:moveTo>
                    <a:pt x="74452" y="242879"/>
                  </a:moveTo>
                  <a:lnTo>
                    <a:pt x="61849" y="244728"/>
                  </a:lnTo>
                  <a:lnTo>
                    <a:pt x="63753" y="257301"/>
                  </a:lnTo>
                  <a:lnTo>
                    <a:pt x="76295" y="255460"/>
                  </a:lnTo>
                  <a:lnTo>
                    <a:pt x="74452" y="242879"/>
                  </a:lnTo>
                  <a:close/>
                </a:path>
                <a:path w="1731645" h="287020">
                  <a:moveTo>
                    <a:pt x="76295" y="255460"/>
                  </a:moveTo>
                  <a:lnTo>
                    <a:pt x="63753" y="257301"/>
                  </a:lnTo>
                  <a:lnTo>
                    <a:pt x="76564" y="257301"/>
                  </a:lnTo>
                  <a:lnTo>
                    <a:pt x="76295" y="255460"/>
                  </a:lnTo>
                  <a:close/>
                </a:path>
                <a:path w="1731645" h="287020">
                  <a:moveTo>
                    <a:pt x="1729359" y="0"/>
                  </a:moveTo>
                  <a:lnTo>
                    <a:pt x="74452" y="242879"/>
                  </a:lnTo>
                  <a:lnTo>
                    <a:pt x="76295" y="255460"/>
                  </a:lnTo>
                  <a:lnTo>
                    <a:pt x="1731264" y="12445"/>
                  </a:lnTo>
                  <a:lnTo>
                    <a:pt x="17293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44239" y="4776215"/>
              <a:ext cx="859536" cy="198119"/>
            </a:xfrm>
            <a:prstGeom prst="rect">
              <a:avLst/>
            </a:prstGeom>
          </p:spPr>
        </p:pic>
      </p:grpSp>
      <p:sp>
        <p:nvSpPr>
          <p:cNvPr id="19" name="object 2">
            <a:extLst>
              <a:ext uri="{FF2B5EF4-FFF2-40B4-BE49-F238E27FC236}">
                <a16:creationId xmlns:a16="http://schemas.microsoft.com/office/drawing/2014/main" id="{B69319C9-3FA2-4F84-5056-A4CB35C01291}"/>
              </a:ext>
            </a:extLst>
          </p:cNvPr>
          <p:cNvSpPr txBox="1">
            <a:spLocks/>
          </p:cNvSpPr>
          <p:nvPr/>
        </p:nvSpPr>
        <p:spPr>
          <a:xfrm>
            <a:off x="838200" y="682299"/>
            <a:ext cx="10515600" cy="691215"/>
          </a:xfrm>
          <a:prstGeom prst="rect">
            <a:avLst/>
          </a:prstGeom>
        </p:spPr>
        <p:txBody>
          <a:bodyPr vert="horz" wrap="square" lIns="0" tIns="1397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lang="en-US" dirty="0"/>
              <a:t>Set</a:t>
            </a:r>
            <a:r>
              <a:rPr lang="en-US" spc="-50" dirty="0"/>
              <a:t> </a:t>
            </a:r>
            <a:r>
              <a:rPr lang="en-US" spc="-10" dirty="0"/>
              <a:t>Operations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0996" y="1445747"/>
            <a:ext cx="7293609" cy="164211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Mutually</a:t>
            </a:r>
            <a:r>
              <a:rPr sz="2800" b="1" spc="-7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exclusive</a:t>
            </a:r>
            <a:r>
              <a:rPr sz="2800" b="1" spc="-7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set</a:t>
            </a:r>
            <a:r>
              <a:rPr sz="2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471C4"/>
                </a:solidFill>
                <a:latin typeface="Calibri"/>
                <a:cs typeface="Calibri"/>
              </a:rPr>
              <a:t>(</a:t>
            </a: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disjoint):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  <a:tabLst>
                <a:tab pos="1656714" algn="l"/>
                <a:tab pos="2679065" algn="l"/>
              </a:tabLst>
            </a:pPr>
            <a:r>
              <a:rPr sz="2400" b="1" dirty="0">
                <a:latin typeface="Calibri"/>
                <a:cs typeface="Calibri"/>
              </a:rPr>
              <a:t>Two</a:t>
            </a:r>
            <a:r>
              <a:rPr sz="2400" b="1" spc="-1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sets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and</a:t>
            </a:r>
            <a:r>
              <a:rPr sz="2400" b="1" dirty="0">
                <a:latin typeface="Calibri"/>
                <a:cs typeface="Calibri"/>
              </a:rPr>
              <a:t>	are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mutually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exclusive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(or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disjoint)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if</a:t>
            </a:r>
            <a:endParaRPr sz="2400" dirty="0">
              <a:latin typeface="Calibri"/>
              <a:cs typeface="Calibri"/>
            </a:endParaRPr>
          </a:p>
          <a:p>
            <a:pPr marL="2881630" indent="-2868930">
              <a:lnSpc>
                <a:spcPct val="100000"/>
              </a:lnSpc>
              <a:spcBef>
                <a:spcPts val="1995"/>
              </a:spcBef>
              <a:buFont typeface="Wingdings"/>
              <a:buChar char=""/>
              <a:tabLst>
                <a:tab pos="2881630" algn="l"/>
              </a:tabLst>
            </a:pP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m.e.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if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0255" y="2153803"/>
            <a:ext cx="240792" cy="2164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87140" y="2163230"/>
            <a:ext cx="246887" cy="2072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47888" y="2129419"/>
            <a:ext cx="1630679" cy="2590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70533" y="2767018"/>
            <a:ext cx="2240280" cy="2743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53685" y="2755108"/>
            <a:ext cx="2859024" cy="32613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43189" y="3693796"/>
            <a:ext cx="201168" cy="21945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018991" y="3702686"/>
            <a:ext cx="3874770" cy="1707514"/>
            <a:chOff x="3953002" y="3437890"/>
            <a:chExt cx="3874770" cy="1707514"/>
          </a:xfrm>
        </p:grpSpPr>
        <p:sp>
          <p:nvSpPr>
            <p:cNvPr id="11" name="object 11"/>
            <p:cNvSpPr/>
            <p:nvPr/>
          </p:nvSpPr>
          <p:spPr>
            <a:xfrm>
              <a:off x="3959352" y="3444240"/>
              <a:ext cx="3862070" cy="1694814"/>
            </a:xfrm>
            <a:custGeom>
              <a:avLst/>
              <a:gdLst/>
              <a:ahLst/>
              <a:cxnLst/>
              <a:rect l="l" t="t" r="r" b="b"/>
              <a:pathLst>
                <a:path w="3862070" h="1694814">
                  <a:moveTo>
                    <a:pt x="3861815" y="0"/>
                  </a:moveTo>
                  <a:lnTo>
                    <a:pt x="0" y="0"/>
                  </a:lnTo>
                  <a:lnTo>
                    <a:pt x="0" y="1694688"/>
                  </a:lnTo>
                  <a:lnTo>
                    <a:pt x="3861815" y="1694688"/>
                  </a:lnTo>
                  <a:lnTo>
                    <a:pt x="38618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59352" y="3444240"/>
              <a:ext cx="3862070" cy="1694814"/>
            </a:xfrm>
            <a:custGeom>
              <a:avLst/>
              <a:gdLst/>
              <a:ahLst/>
              <a:cxnLst/>
              <a:rect l="l" t="t" r="r" b="b"/>
              <a:pathLst>
                <a:path w="3862070" h="1694814">
                  <a:moveTo>
                    <a:pt x="0" y="1694688"/>
                  </a:moveTo>
                  <a:lnTo>
                    <a:pt x="3861815" y="1694688"/>
                  </a:lnTo>
                  <a:lnTo>
                    <a:pt x="3861815" y="0"/>
                  </a:lnTo>
                  <a:lnTo>
                    <a:pt x="0" y="0"/>
                  </a:lnTo>
                  <a:lnTo>
                    <a:pt x="0" y="16946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68140" y="3765804"/>
              <a:ext cx="612775" cy="927100"/>
            </a:xfrm>
            <a:custGeom>
              <a:avLst/>
              <a:gdLst/>
              <a:ahLst/>
              <a:cxnLst/>
              <a:rect l="l" t="t" r="r" b="b"/>
              <a:pathLst>
                <a:path w="612775" h="927100">
                  <a:moveTo>
                    <a:pt x="306324" y="0"/>
                  </a:moveTo>
                  <a:lnTo>
                    <a:pt x="267902" y="3609"/>
                  </a:lnTo>
                  <a:lnTo>
                    <a:pt x="230903" y="14147"/>
                  </a:lnTo>
                  <a:lnTo>
                    <a:pt x="195615" y="31180"/>
                  </a:lnTo>
                  <a:lnTo>
                    <a:pt x="162325" y="54275"/>
                  </a:lnTo>
                  <a:lnTo>
                    <a:pt x="131320" y="82997"/>
                  </a:lnTo>
                  <a:lnTo>
                    <a:pt x="102887" y="116913"/>
                  </a:lnTo>
                  <a:lnTo>
                    <a:pt x="77314" y="155589"/>
                  </a:lnTo>
                  <a:lnTo>
                    <a:pt x="54886" y="198590"/>
                  </a:lnTo>
                  <a:lnTo>
                    <a:pt x="35893" y="245483"/>
                  </a:lnTo>
                  <a:lnTo>
                    <a:pt x="20620" y="295834"/>
                  </a:lnTo>
                  <a:lnTo>
                    <a:pt x="9356" y="349209"/>
                  </a:lnTo>
                  <a:lnTo>
                    <a:pt x="2386" y="405174"/>
                  </a:lnTo>
                  <a:lnTo>
                    <a:pt x="0" y="463296"/>
                  </a:lnTo>
                  <a:lnTo>
                    <a:pt x="2386" y="521417"/>
                  </a:lnTo>
                  <a:lnTo>
                    <a:pt x="9356" y="577382"/>
                  </a:lnTo>
                  <a:lnTo>
                    <a:pt x="20620" y="630757"/>
                  </a:lnTo>
                  <a:lnTo>
                    <a:pt x="35893" y="681108"/>
                  </a:lnTo>
                  <a:lnTo>
                    <a:pt x="54886" y="728001"/>
                  </a:lnTo>
                  <a:lnTo>
                    <a:pt x="77314" y="771002"/>
                  </a:lnTo>
                  <a:lnTo>
                    <a:pt x="102887" y="809678"/>
                  </a:lnTo>
                  <a:lnTo>
                    <a:pt x="131320" y="843594"/>
                  </a:lnTo>
                  <a:lnTo>
                    <a:pt x="162325" y="872316"/>
                  </a:lnTo>
                  <a:lnTo>
                    <a:pt x="195615" y="895411"/>
                  </a:lnTo>
                  <a:lnTo>
                    <a:pt x="230903" y="912444"/>
                  </a:lnTo>
                  <a:lnTo>
                    <a:pt x="267902" y="922982"/>
                  </a:lnTo>
                  <a:lnTo>
                    <a:pt x="306324" y="926592"/>
                  </a:lnTo>
                  <a:lnTo>
                    <a:pt x="344745" y="922982"/>
                  </a:lnTo>
                  <a:lnTo>
                    <a:pt x="381744" y="912444"/>
                  </a:lnTo>
                  <a:lnTo>
                    <a:pt x="417032" y="895411"/>
                  </a:lnTo>
                  <a:lnTo>
                    <a:pt x="450322" y="872316"/>
                  </a:lnTo>
                  <a:lnTo>
                    <a:pt x="481327" y="843594"/>
                  </a:lnTo>
                  <a:lnTo>
                    <a:pt x="509760" y="809678"/>
                  </a:lnTo>
                  <a:lnTo>
                    <a:pt x="535333" y="771002"/>
                  </a:lnTo>
                  <a:lnTo>
                    <a:pt x="557761" y="728001"/>
                  </a:lnTo>
                  <a:lnTo>
                    <a:pt x="576754" y="681108"/>
                  </a:lnTo>
                  <a:lnTo>
                    <a:pt x="592027" y="630757"/>
                  </a:lnTo>
                  <a:lnTo>
                    <a:pt x="603291" y="577382"/>
                  </a:lnTo>
                  <a:lnTo>
                    <a:pt x="610261" y="521417"/>
                  </a:lnTo>
                  <a:lnTo>
                    <a:pt x="612648" y="463296"/>
                  </a:lnTo>
                  <a:lnTo>
                    <a:pt x="610261" y="405174"/>
                  </a:lnTo>
                  <a:lnTo>
                    <a:pt x="603291" y="349209"/>
                  </a:lnTo>
                  <a:lnTo>
                    <a:pt x="592027" y="295834"/>
                  </a:lnTo>
                  <a:lnTo>
                    <a:pt x="576754" y="245483"/>
                  </a:lnTo>
                  <a:lnTo>
                    <a:pt x="557761" y="198590"/>
                  </a:lnTo>
                  <a:lnTo>
                    <a:pt x="535333" y="155589"/>
                  </a:lnTo>
                  <a:lnTo>
                    <a:pt x="509760" y="116913"/>
                  </a:lnTo>
                  <a:lnTo>
                    <a:pt x="481327" y="82997"/>
                  </a:lnTo>
                  <a:lnTo>
                    <a:pt x="450322" y="54275"/>
                  </a:lnTo>
                  <a:lnTo>
                    <a:pt x="417032" y="31180"/>
                  </a:lnTo>
                  <a:lnTo>
                    <a:pt x="381744" y="14147"/>
                  </a:lnTo>
                  <a:lnTo>
                    <a:pt x="344745" y="3609"/>
                  </a:lnTo>
                  <a:lnTo>
                    <a:pt x="306324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68140" y="3765804"/>
              <a:ext cx="612775" cy="927100"/>
            </a:xfrm>
            <a:custGeom>
              <a:avLst/>
              <a:gdLst/>
              <a:ahLst/>
              <a:cxnLst/>
              <a:rect l="l" t="t" r="r" b="b"/>
              <a:pathLst>
                <a:path w="612775" h="927100">
                  <a:moveTo>
                    <a:pt x="0" y="463296"/>
                  </a:moveTo>
                  <a:lnTo>
                    <a:pt x="2386" y="405174"/>
                  </a:lnTo>
                  <a:lnTo>
                    <a:pt x="9356" y="349209"/>
                  </a:lnTo>
                  <a:lnTo>
                    <a:pt x="20620" y="295834"/>
                  </a:lnTo>
                  <a:lnTo>
                    <a:pt x="35893" y="245483"/>
                  </a:lnTo>
                  <a:lnTo>
                    <a:pt x="54886" y="198590"/>
                  </a:lnTo>
                  <a:lnTo>
                    <a:pt x="77314" y="155589"/>
                  </a:lnTo>
                  <a:lnTo>
                    <a:pt x="102887" y="116913"/>
                  </a:lnTo>
                  <a:lnTo>
                    <a:pt x="131320" y="82997"/>
                  </a:lnTo>
                  <a:lnTo>
                    <a:pt x="162325" y="54275"/>
                  </a:lnTo>
                  <a:lnTo>
                    <a:pt x="195615" y="31180"/>
                  </a:lnTo>
                  <a:lnTo>
                    <a:pt x="230903" y="14147"/>
                  </a:lnTo>
                  <a:lnTo>
                    <a:pt x="267902" y="3609"/>
                  </a:lnTo>
                  <a:lnTo>
                    <a:pt x="306324" y="0"/>
                  </a:lnTo>
                  <a:lnTo>
                    <a:pt x="344745" y="3609"/>
                  </a:lnTo>
                  <a:lnTo>
                    <a:pt x="381744" y="14147"/>
                  </a:lnTo>
                  <a:lnTo>
                    <a:pt x="417032" y="31180"/>
                  </a:lnTo>
                  <a:lnTo>
                    <a:pt x="450322" y="54275"/>
                  </a:lnTo>
                  <a:lnTo>
                    <a:pt x="481327" y="82997"/>
                  </a:lnTo>
                  <a:lnTo>
                    <a:pt x="509760" y="116913"/>
                  </a:lnTo>
                  <a:lnTo>
                    <a:pt x="535333" y="155589"/>
                  </a:lnTo>
                  <a:lnTo>
                    <a:pt x="557761" y="198590"/>
                  </a:lnTo>
                  <a:lnTo>
                    <a:pt x="576754" y="245483"/>
                  </a:lnTo>
                  <a:lnTo>
                    <a:pt x="592027" y="295834"/>
                  </a:lnTo>
                  <a:lnTo>
                    <a:pt x="603291" y="349209"/>
                  </a:lnTo>
                  <a:lnTo>
                    <a:pt x="610261" y="405174"/>
                  </a:lnTo>
                  <a:lnTo>
                    <a:pt x="612648" y="463296"/>
                  </a:lnTo>
                  <a:lnTo>
                    <a:pt x="610261" y="521417"/>
                  </a:lnTo>
                  <a:lnTo>
                    <a:pt x="603291" y="577382"/>
                  </a:lnTo>
                  <a:lnTo>
                    <a:pt x="592027" y="630757"/>
                  </a:lnTo>
                  <a:lnTo>
                    <a:pt x="576754" y="681108"/>
                  </a:lnTo>
                  <a:lnTo>
                    <a:pt x="557761" y="728001"/>
                  </a:lnTo>
                  <a:lnTo>
                    <a:pt x="535333" y="771002"/>
                  </a:lnTo>
                  <a:lnTo>
                    <a:pt x="509760" y="809678"/>
                  </a:lnTo>
                  <a:lnTo>
                    <a:pt x="481327" y="843594"/>
                  </a:lnTo>
                  <a:lnTo>
                    <a:pt x="450322" y="872316"/>
                  </a:lnTo>
                  <a:lnTo>
                    <a:pt x="417032" y="895411"/>
                  </a:lnTo>
                  <a:lnTo>
                    <a:pt x="381744" y="912444"/>
                  </a:lnTo>
                  <a:lnTo>
                    <a:pt x="344745" y="922982"/>
                  </a:lnTo>
                  <a:lnTo>
                    <a:pt x="306324" y="926592"/>
                  </a:lnTo>
                  <a:lnTo>
                    <a:pt x="267902" y="922982"/>
                  </a:lnTo>
                  <a:lnTo>
                    <a:pt x="230903" y="912444"/>
                  </a:lnTo>
                  <a:lnTo>
                    <a:pt x="195615" y="895411"/>
                  </a:lnTo>
                  <a:lnTo>
                    <a:pt x="162325" y="872316"/>
                  </a:lnTo>
                  <a:lnTo>
                    <a:pt x="131320" y="843594"/>
                  </a:lnTo>
                  <a:lnTo>
                    <a:pt x="102887" y="809678"/>
                  </a:lnTo>
                  <a:lnTo>
                    <a:pt x="77314" y="771002"/>
                  </a:lnTo>
                  <a:lnTo>
                    <a:pt x="54886" y="728001"/>
                  </a:lnTo>
                  <a:lnTo>
                    <a:pt x="35893" y="681108"/>
                  </a:lnTo>
                  <a:lnTo>
                    <a:pt x="20620" y="630757"/>
                  </a:lnTo>
                  <a:lnTo>
                    <a:pt x="9356" y="577382"/>
                  </a:lnTo>
                  <a:lnTo>
                    <a:pt x="2386" y="521417"/>
                  </a:lnTo>
                  <a:lnTo>
                    <a:pt x="0" y="463296"/>
                  </a:lnTo>
                  <a:close/>
                </a:path>
              </a:pathLst>
            </a:custGeom>
            <a:ln w="2857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52544" y="4099560"/>
              <a:ext cx="307848" cy="21945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018532" y="3765804"/>
              <a:ext cx="612775" cy="927100"/>
            </a:xfrm>
            <a:custGeom>
              <a:avLst/>
              <a:gdLst/>
              <a:ahLst/>
              <a:cxnLst/>
              <a:rect l="l" t="t" r="r" b="b"/>
              <a:pathLst>
                <a:path w="612775" h="927100">
                  <a:moveTo>
                    <a:pt x="306323" y="0"/>
                  </a:moveTo>
                  <a:lnTo>
                    <a:pt x="267902" y="3609"/>
                  </a:lnTo>
                  <a:lnTo>
                    <a:pt x="230903" y="14147"/>
                  </a:lnTo>
                  <a:lnTo>
                    <a:pt x="195615" y="31180"/>
                  </a:lnTo>
                  <a:lnTo>
                    <a:pt x="162325" y="54275"/>
                  </a:lnTo>
                  <a:lnTo>
                    <a:pt x="131320" y="82997"/>
                  </a:lnTo>
                  <a:lnTo>
                    <a:pt x="102887" y="116913"/>
                  </a:lnTo>
                  <a:lnTo>
                    <a:pt x="77314" y="155589"/>
                  </a:lnTo>
                  <a:lnTo>
                    <a:pt x="54886" y="198590"/>
                  </a:lnTo>
                  <a:lnTo>
                    <a:pt x="35893" y="245483"/>
                  </a:lnTo>
                  <a:lnTo>
                    <a:pt x="20620" y="295834"/>
                  </a:lnTo>
                  <a:lnTo>
                    <a:pt x="9356" y="349209"/>
                  </a:lnTo>
                  <a:lnTo>
                    <a:pt x="2386" y="405174"/>
                  </a:lnTo>
                  <a:lnTo>
                    <a:pt x="0" y="463296"/>
                  </a:lnTo>
                  <a:lnTo>
                    <a:pt x="2386" y="521417"/>
                  </a:lnTo>
                  <a:lnTo>
                    <a:pt x="9356" y="577382"/>
                  </a:lnTo>
                  <a:lnTo>
                    <a:pt x="20620" y="630757"/>
                  </a:lnTo>
                  <a:lnTo>
                    <a:pt x="35893" y="681108"/>
                  </a:lnTo>
                  <a:lnTo>
                    <a:pt x="54886" y="728001"/>
                  </a:lnTo>
                  <a:lnTo>
                    <a:pt x="77314" y="771002"/>
                  </a:lnTo>
                  <a:lnTo>
                    <a:pt x="102887" y="809678"/>
                  </a:lnTo>
                  <a:lnTo>
                    <a:pt x="131320" y="843594"/>
                  </a:lnTo>
                  <a:lnTo>
                    <a:pt x="162325" y="872316"/>
                  </a:lnTo>
                  <a:lnTo>
                    <a:pt x="195615" y="895411"/>
                  </a:lnTo>
                  <a:lnTo>
                    <a:pt x="230903" y="912444"/>
                  </a:lnTo>
                  <a:lnTo>
                    <a:pt x="267902" y="922982"/>
                  </a:lnTo>
                  <a:lnTo>
                    <a:pt x="306323" y="926592"/>
                  </a:lnTo>
                  <a:lnTo>
                    <a:pt x="344745" y="922982"/>
                  </a:lnTo>
                  <a:lnTo>
                    <a:pt x="381744" y="912444"/>
                  </a:lnTo>
                  <a:lnTo>
                    <a:pt x="417032" y="895411"/>
                  </a:lnTo>
                  <a:lnTo>
                    <a:pt x="450322" y="872316"/>
                  </a:lnTo>
                  <a:lnTo>
                    <a:pt x="481327" y="843594"/>
                  </a:lnTo>
                  <a:lnTo>
                    <a:pt x="509760" y="809678"/>
                  </a:lnTo>
                  <a:lnTo>
                    <a:pt x="535333" y="771002"/>
                  </a:lnTo>
                  <a:lnTo>
                    <a:pt x="557761" y="728001"/>
                  </a:lnTo>
                  <a:lnTo>
                    <a:pt x="576754" y="681108"/>
                  </a:lnTo>
                  <a:lnTo>
                    <a:pt x="592027" y="630757"/>
                  </a:lnTo>
                  <a:lnTo>
                    <a:pt x="603291" y="577382"/>
                  </a:lnTo>
                  <a:lnTo>
                    <a:pt x="610261" y="521417"/>
                  </a:lnTo>
                  <a:lnTo>
                    <a:pt x="612647" y="463296"/>
                  </a:lnTo>
                  <a:lnTo>
                    <a:pt x="610261" y="405174"/>
                  </a:lnTo>
                  <a:lnTo>
                    <a:pt x="603291" y="349209"/>
                  </a:lnTo>
                  <a:lnTo>
                    <a:pt x="592027" y="295834"/>
                  </a:lnTo>
                  <a:lnTo>
                    <a:pt x="576754" y="245483"/>
                  </a:lnTo>
                  <a:lnTo>
                    <a:pt x="557761" y="198590"/>
                  </a:lnTo>
                  <a:lnTo>
                    <a:pt x="535333" y="155589"/>
                  </a:lnTo>
                  <a:lnTo>
                    <a:pt x="509760" y="116913"/>
                  </a:lnTo>
                  <a:lnTo>
                    <a:pt x="481327" y="82997"/>
                  </a:lnTo>
                  <a:lnTo>
                    <a:pt x="450322" y="54275"/>
                  </a:lnTo>
                  <a:lnTo>
                    <a:pt x="417032" y="31180"/>
                  </a:lnTo>
                  <a:lnTo>
                    <a:pt x="381744" y="14147"/>
                  </a:lnTo>
                  <a:lnTo>
                    <a:pt x="344745" y="3609"/>
                  </a:lnTo>
                  <a:lnTo>
                    <a:pt x="306323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18532" y="3765804"/>
              <a:ext cx="612775" cy="927100"/>
            </a:xfrm>
            <a:custGeom>
              <a:avLst/>
              <a:gdLst/>
              <a:ahLst/>
              <a:cxnLst/>
              <a:rect l="l" t="t" r="r" b="b"/>
              <a:pathLst>
                <a:path w="612775" h="927100">
                  <a:moveTo>
                    <a:pt x="0" y="463296"/>
                  </a:moveTo>
                  <a:lnTo>
                    <a:pt x="2386" y="405174"/>
                  </a:lnTo>
                  <a:lnTo>
                    <a:pt x="9356" y="349209"/>
                  </a:lnTo>
                  <a:lnTo>
                    <a:pt x="20620" y="295834"/>
                  </a:lnTo>
                  <a:lnTo>
                    <a:pt x="35893" y="245483"/>
                  </a:lnTo>
                  <a:lnTo>
                    <a:pt x="54886" y="198590"/>
                  </a:lnTo>
                  <a:lnTo>
                    <a:pt x="77314" y="155589"/>
                  </a:lnTo>
                  <a:lnTo>
                    <a:pt x="102887" y="116913"/>
                  </a:lnTo>
                  <a:lnTo>
                    <a:pt x="131320" y="82997"/>
                  </a:lnTo>
                  <a:lnTo>
                    <a:pt x="162325" y="54275"/>
                  </a:lnTo>
                  <a:lnTo>
                    <a:pt x="195615" y="31180"/>
                  </a:lnTo>
                  <a:lnTo>
                    <a:pt x="230903" y="14147"/>
                  </a:lnTo>
                  <a:lnTo>
                    <a:pt x="267902" y="3609"/>
                  </a:lnTo>
                  <a:lnTo>
                    <a:pt x="306323" y="0"/>
                  </a:lnTo>
                  <a:lnTo>
                    <a:pt x="344745" y="3609"/>
                  </a:lnTo>
                  <a:lnTo>
                    <a:pt x="381744" y="14147"/>
                  </a:lnTo>
                  <a:lnTo>
                    <a:pt x="417032" y="31180"/>
                  </a:lnTo>
                  <a:lnTo>
                    <a:pt x="450322" y="54275"/>
                  </a:lnTo>
                  <a:lnTo>
                    <a:pt x="481327" y="82997"/>
                  </a:lnTo>
                  <a:lnTo>
                    <a:pt x="509760" y="116913"/>
                  </a:lnTo>
                  <a:lnTo>
                    <a:pt x="535333" y="155589"/>
                  </a:lnTo>
                  <a:lnTo>
                    <a:pt x="557761" y="198590"/>
                  </a:lnTo>
                  <a:lnTo>
                    <a:pt x="576754" y="245483"/>
                  </a:lnTo>
                  <a:lnTo>
                    <a:pt x="592027" y="295834"/>
                  </a:lnTo>
                  <a:lnTo>
                    <a:pt x="603291" y="349209"/>
                  </a:lnTo>
                  <a:lnTo>
                    <a:pt x="610261" y="405174"/>
                  </a:lnTo>
                  <a:lnTo>
                    <a:pt x="612647" y="463296"/>
                  </a:lnTo>
                  <a:lnTo>
                    <a:pt x="610261" y="521417"/>
                  </a:lnTo>
                  <a:lnTo>
                    <a:pt x="603291" y="577382"/>
                  </a:lnTo>
                  <a:lnTo>
                    <a:pt x="592027" y="630757"/>
                  </a:lnTo>
                  <a:lnTo>
                    <a:pt x="576754" y="681108"/>
                  </a:lnTo>
                  <a:lnTo>
                    <a:pt x="557761" y="728001"/>
                  </a:lnTo>
                  <a:lnTo>
                    <a:pt x="535333" y="771002"/>
                  </a:lnTo>
                  <a:lnTo>
                    <a:pt x="509760" y="809678"/>
                  </a:lnTo>
                  <a:lnTo>
                    <a:pt x="481327" y="843594"/>
                  </a:lnTo>
                  <a:lnTo>
                    <a:pt x="450322" y="872316"/>
                  </a:lnTo>
                  <a:lnTo>
                    <a:pt x="417032" y="895411"/>
                  </a:lnTo>
                  <a:lnTo>
                    <a:pt x="381744" y="912444"/>
                  </a:lnTo>
                  <a:lnTo>
                    <a:pt x="344745" y="922982"/>
                  </a:lnTo>
                  <a:lnTo>
                    <a:pt x="306323" y="926592"/>
                  </a:lnTo>
                  <a:lnTo>
                    <a:pt x="267902" y="922982"/>
                  </a:lnTo>
                  <a:lnTo>
                    <a:pt x="230903" y="912444"/>
                  </a:lnTo>
                  <a:lnTo>
                    <a:pt x="195615" y="895411"/>
                  </a:lnTo>
                  <a:lnTo>
                    <a:pt x="162325" y="872316"/>
                  </a:lnTo>
                  <a:lnTo>
                    <a:pt x="131320" y="843594"/>
                  </a:lnTo>
                  <a:lnTo>
                    <a:pt x="102887" y="809678"/>
                  </a:lnTo>
                  <a:lnTo>
                    <a:pt x="77314" y="771002"/>
                  </a:lnTo>
                  <a:lnTo>
                    <a:pt x="54886" y="728001"/>
                  </a:lnTo>
                  <a:lnTo>
                    <a:pt x="35893" y="681108"/>
                  </a:lnTo>
                  <a:lnTo>
                    <a:pt x="20620" y="630757"/>
                  </a:lnTo>
                  <a:lnTo>
                    <a:pt x="9356" y="577382"/>
                  </a:lnTo>
                  <a:lnTo>
                    <a:pt x="2386" y="521417"/>
                  </a:lnTo>
                  <a:lnTo>
                    <a:pt x="0" y="463296"/>
                  </a:lnTo>
                  <a:close/>
                </a:path>
              </a:pathLst>
            </a:custGeom>
            <a:ln w="2857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99888" y="4099560"/>
              <a:ext cx="313943" cy="21945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618732" y="3765804"/>
              <a:ext cx="612775" cy="927100"/>
            </a:xfrm>
            <a:custGeom>
              <a:avLst/>
              <a:gdLst/>
              <a:ahLst/>
              <a:cxnLst/>
              <a:rect l="l" t="t" r="r" b="b"/>
              <a:pathLst>
                <a:path w="612775" h="927100">
                  <a:moveTo>
                    <a:pt x="306324" y="0"/>
                  </a:moveTo>
                  <a:lnTo>
                    <a:pt x="267902" y="3609"/>
                  </a:lnTo>
                  <a:lnTo>
                    <a:pt x="230903" y="14147"/>
                  </a:lnTo>
                  <a:lnTo>
                    <a:pt x="195615" y="31180"/>
                  </a:lnTo>
                  <a:lnTo>
                    <a:pt x="162325" y="54275"/>
                  </a:lnTo>
                  <a:lnTo>
                    <a:pt x="131320" y="82997"/>
                  </a:lnTo>
                  <a:lnTo>
                    <a:pt x="102887" y="116913"/>
                  </a:lnTo>
                  <a:lnTo>
                    <a:pt x="77314" y="155589"/>
                  </a:lnTo>
                  <a:lnTo>
                    <a:pt x="54886" y="198590"/>
                  </a:lnTo>
                  <a:lnTo>
                    <a:pt x="35893" y="245483"/>
                  </a:lnTo>
                  <a:lnTo>
                    <a:pt x="20620" y="295834"/>
                  </a:lnTo>
                  <a:lnTo>
                    <a:pt x="9356" y="349209"/>
                  </a:lnTo>
                  <a:lnTo>
                    <a:pt x="2386" y="405174"/>
                  </a:lnTo>
                  <a:lnTo>
                    <a:pt x="0" y="463296"/>
                  </a:lnTo>
                  <a:lnTo>
                    <a:pt x="2386" y="521417"/>
                  </a:lnTo>
                  <a:lnTo>
                    <a:pt x="9356" y="577382"/>
                  </a:lnTo>
                  <a:lnTo>
                    <a:pt x="20620" y="630757"/>
                  </a:lnTo>
                  <a:lnTo>
                    <a:pt x="35893" y="681108"/>
                  </a:lnTo>
                  <a:lnTo>
                    <a:pt x="54886" y="728001"/>
                  </a:lnTo>
                  <a:lnTo>
                    <a:pt x="77314" y="771002"/>
                  </a:lnTo>
                  <a:lnTo>
                    <a:pt x="102887" y="809678"/>
                  </a:lnTo>
                  <a:lnTo>
                    <a:pt x="131320" y="843594"/>
                  </a:lnTo>
                  <a:lnTo>
                    <a:pt x="162325" y="872316"/>
                  </a:lnTo>
                  <a:lnTo>
                    <a:pt x="195615" y="895411"/>
                  </a:lnTo>
                  <a:lnTo>
                    <a:pt x="230903" y="912444"/>
                  </a:lnTo>
                  <a:lnTo>
                    <a:pt x="267902" y="922982"/>
                  </a:lnTo>
                  <a:lnTo>
                    <a:pt x="306324" y="926592"/>
                  </a:lnTo>
                  <a:lnTo>
                    <a:pt x="344745" y="922982"/>
                  </a:lnTo>
                  <a:lnTo>
                    <a:pt x="381744" y="912444"/>
                  </a:lnTo>
                  <a:lnTo>
                    <a:pt x="417032" y="895411"/>
                  </a:lnTo>
                  <a:lnTo>
                    <a:pt x="450322" y="872316"/>
                  </a:lnTo>
                  <a:lnTo>
                    <a:pt x="481327" y="843594"/>
                  </a:lnTo>
                  <a:lnTo>
                    <a:pt x="509760" y="809678"/>
                  </a:lnTo>
                  <a:lnTo>
                    <a:pt x="535333" y="771002"/>
                  </a:lnTo>
                  <a:lnTo>
                    <a:pt x="557761" y="728001"/>
                  </a:lnTo>
                  <a:lnTo>
                    <a:pt x="576754" y="681108"/>
                  </a:lnTo>
                  <a:lnTo>
                    <a:pt x="592027" y="630757"/>
                  </a:lnTo>
                  <a:lnTo>
                    <a:pt x="603291" y="577382"/>
                  </a:lnTo>
                  <a:lnTo>
                    <a:pt x="610261" y="521417"/>
                  </a:lnTo>
                  <a:lnTo>
                    <a:pt x="612648" y="463296"/>
                  </a:lnTo>
                  <a:lnTo>
                    <a:pt x="610261" y="405174"/>
                  </a:lnTo>
                  <a:lnTo>
                    <a:pt x="603291" y="349209"/>
                  </a:lnTo>
                  <a:lnTo>
                    <a:pt x="592027" y="295834"/>
                  </a:lnTo>
                  <a:lnTo>
                    <a:pt x="576754" y="245483"/>
                  </a:lnTo>
                  <a:lnTo>
                    <a:pt x="557761" y="198590"/>
                  </a:lnTo>
                  <a:lnTo>
                    <a:pt x="535333" y="155589"/>
                  </a:lnTo>
                  <a:lnTo>
                    <a:pt x="509760" y="116913"/>
                  </a:lnTo>
                  <a:lnTo>
                    <a:pt x="481327" y="82997"/>
                  </a:lnTo>
                  <a:lnTo>
                    <a:pt x="450322" y="54275"/>
                  </a:lnTo>
                  <a:lnTo>
                    <a:pt x="417032" y="31180"/>
                  </a:lnTo>
                  <a:lnTo>
                    <a:pt x="381744" y="14147"/>
                  </a:lnTo>
                  <a:lnTo>
                    <a:pt x="344745" y="3609"/>
                  </a:lnTo>
                  <a:lnTo>
                    <a:pt x="306324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18732" y="3765804"/>
              <a:ext cx="612775" cy="927100"/>
            </a:xfrm>
            <a:custGeom>
              <a:avLst/>
              <a:gdLst/>
              <a:ahLst/>
              <a:cxnLst/>
              <a:rect l="l" t="t" r="r" b="b"/>
              <a:pathLst>
                <a:path w="612775" h="927100">
                  <a:moveTo>
                    <a:pt x="0" y="463296"/>
                  </a:moveTo>
                  <a:lnTo>
                    <a:pt x="2386" y="405174"/>
                  </a:lnTo>
                  <a:lnTo>
                    <a:pt x="9356" y="349209"/>
                  </a:lnTo>
                  <a:lnTo>
                    <a:pt x="20620" y="295834"/>
                  </a:lnTo>
                  <a:lnTo>
                    <a:pt x="35893" y="245483"/>
                  </a:lnTo>
                  <a:lnTo>
                    <a:pt x="54886" y="198590"/>
                  </a:lnTo>
                  <a:lnTo>
                    <a:pt x="77314" y="155589"/>
                  </a:lnTo>
                  <a:lnTo>
                    <a:pt x="102887" y="116913"/>
                  </a:lnTo>
                  <a:lnTo>
                    <a:pt x="131320" y="82997"/>
                  </a:lnTo>
                  <a:lnTo>
                    <a:pt x="162325" y="54275"/>
                  </a:lnTo>
                  <a:lnTo>
                    <a:pt x="195615" y="31180"/>
                  </a:lnTo>
                  <a:lnTo>
                    <a:pt x="230903" y="14147"/>
                  </a:lnTo>
                  <a:lnTo>
                    <a:pt x="267902" y="3609"/>
                  </a:lnTo>
                  <a:lnTo>
                    <a:pt x="306324" y="0"/>
                  </a:lnTo>
                  <a:lnTo>
                    <a:pt x="344745" y="3609"/>
                  </a:lnTo>
                  <a:lnTo>
                    <a:pt x="381744" y="14147"/>
                  </a:lnTo>
                  <a:lnTo>
                    <a:pt x="417032" y="31180"/>
                  </a:lnTo>
                  <a:lnTo>
                    <a:pt x="450322" y="54275"/>
                  </a:lnTo>
                  <a:lnTo>
                    <a:pt x="481327" y="82997"/>
                  </a:lnTo>
                  <a:lnTo>
                    <a:pt x="509760" y="116913"/>
                  </a:lnTo>
                  <a:lnTo>
                    <a:pt x="535333" y="155589"/>
                  </a:lnTo>
                  <a:lnTo>
                    <a:pt x="557761" y="198590"/>
                  </a:lnTo>
                  <a:lnTo>
                    <a:pt x="576754" y="245483"/>
                  </a:lnTo>
                  <a:lnTo>
                    <a:pt x="592027" y="295834"/>
                  </a:lnTo>
                  <a:lnTo>
                    <a:pt x="603291" y="349209"/>
                  </a:lnTo>
                  <a:lnTo>
                    <a:pt x="610261" y="405174"/>
                  </a:lnTo>
                  <a:lnTo>
                    <a:pt x="612648" y="463296"/>
                  </a:lnTo>
                  <a:lnTo>
                    <a:pt x="610261" y="521417"/>
                  </a:lnTo>
                  <a:lnTo>
                    <a:pt x="603291" y="577382"/>
                  </a:lnTo>
                  <a:lnTo>
                    <a:pt x="592027" y="630757"/>
                  </a:lnTo>
                  <a:lnTo>
                    <a:pt x="576754" y="681108"/>
                  </a:lnTo>
                  <a:lnTo>
                    <a:pt x="557761" y="728001"/>
                  </a:lnTo>
                  <a:lnTo>
                    <a:pt x="535333" y="771002"/>
                  </a:lnTo>
                  <a:lnTo>
                    <a:pt x="509760" y="809678"/>
                  </a:lnTo>
                  <a:lnTo>
                    <a:pt x="481327" y="843594"/>
                  </a:lnTo>
                  <a:lnTo>
                    <a:pt x="450322" y="872316"/>
                  </a:lnTo>
                  <a:lnTo>
                    <a:pt x="417032" y="895411"/>
                  </a:lnTo>
                  <a:lnTo>
                    <a:pt x="381744" y="912444"/>
                  </a:lnTo>
                  <a:lnTo>
                    <a:pt x="344745" y="922982"/>
                  </a:lnTo>
                  <a:lnTo>
                    <a:pt x="306324" y="926592"/>
                  </a:lnTo>
                  <a:lnTo>
                    <a:pt x="267902" y="922982"/>
                  </a:lnTo>
                  <a:lnTo>
                    <a:pt x="230903" y="912444"/>
                  </a:lnTo>
                  <a:lnTo>
                    <a:pt x="195615" y="895411"/>
                  </a:lnTo>
                  <a:lnTo>
                    <a:pt x="162325" y="872316"/>
                  </a:lnTo>
                  <a:lnTo>
                    <a:pt x="131320" y="843594"/>
                  </a:lnTo>
                  <a:lnTo>
                    <a:pt x="102887" y="809678"/>
                  </a:lnTo>
                  <a:lnTo>
                    <a:pt x="77314" y="771002"/>
                  </a:lnTo>
                  <a:lnTo>
                    <a:pt x="54886" y="728001"/>
                  </a:lnTo>
                  <a:lnTo>
                    <a:pt x="35893" y="681108"/>
                  </a:lnTo>
                  <a:lnTo>
                    <a:pt x="20620" y="630757"/>
                  </a:lnTo>
                  <a:lnTo>
                    <a:pt x="9356" y="577382"/>
                  </a:lnTo>
                  <a:lnTo>
                    <a:pt x="2386" y="521417"/>
                  </a:lnTo>
                  <a:lnTo>
                    <a:pt x="0" y="463296"/>
                  </a:lnTo>
                  <a:close/>
                </a:path>
              </a:pathLst>
            </a:custGeom>
            <a:ln w="2857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00088" y="4099560"/>
              <a:ext cx="347472" cy="21945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00928" y="4209288"/>
              <a:ext cx="359663" cy="48768"/>
            </a:xfrm>
            <a:prstGeom prst="rect">
              <a:avLst/>
            </a:prstGeom>
          </p:spPr>
        </p:pic>
      </p:grpSp>
      <p:sp>
        <p:nvSpPr>
          <p:cNvPr id="26" name="object 2">
            <a:extLst>
              <a:ext uri="{FF2B5EF4-FFF2-40B4-BE49-F238E27FC236}">
                <a16:creationId xmlns:a16="http://schemas.microsoft.com/office/drawing/2014/main" id="{CEDCC550-88A3-8493-92F4-A5CA05A64889}"/>
              </a:ext>
            </a:extLst>
          </p:cNvPr>
          <p:cNvSpPr txBox="1">
            <a:spLocks/>
          </p:cNvSpPr>
          <p:nvPr/>
        </p:nvSpPr>
        <p:spPr>
          <a:xfrm>
            <a:off x="838200" y="682299"/>
            <a:ext cx="10515600" cy="691215"/>
          </a:xfrm>
          <a:prstGeom prst="rect">
            <a:avLst/>
          </a:prstGeom>
        </p:spPr>
        <p:txBody>
          <a:bodyPr vert="horz" wrap="square" lIns="0" tIns="1397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lang="en-US" dirty="0"/>
              <a:t>Set</a:t>
            </a:r>
            <a:r>
              <a:rPr lang="en-US" spc="-50" dirty="0"/>
              <a:t> </a:t>
            </a:r>
            <a:r>
              <a:rPr lang="en-US" spc="-10" dirty="0"/>
              <a:t>Operations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8610600" y="6368546"/>
            <a:ext cx="2743200" cy="340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z="1200" b="0" spc="-25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12</a:t>
            </a:fld>
            <a:endParaRPr sz="1200" b="0" spc="-25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16315" y="2052320"/>
            <a:ext cx="2587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1570" algn="l"/>
              </a:tabLst>
            </a:pP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Partition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of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if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1421109"/>
            <a:ext cx="2729865" cy="193738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Partition: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collection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20" dirty="0">
                <a:latin typeface="Calibri"/>
                <a:cs typeface="Calibri"/>
              </a:rPr>
              <a:t> sets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ts val="36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b="1" spc="-25" dirty="0">
                <a:latin typeface="Calibri"/>
                <a:cs typeface="Calibri"/>
              </a:rPr>
              <a:t>a)</a:t>
            </a:r>
            <a:r>
              <a:rPr sz="2400" b="1" dirty="0">
                <a:latin typeface="Calibri"/>
                <a:cs typeface="Calibri"/>
              </a:rPr>
              <a:t>	They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disjoint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. </a:t>
            </a:r>
            <a:r>
              <a:rPr sz="2400" b="1" spc="-25" dirty="0">
                <a:latin typeface="Calibri"/>
                <a:cs typeface="Calibri"/>
              </a:rPr>
              <a:t>b)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1846" y="2121685"/>
            <a:ext cx="2240279" cy="2743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6888" y="2154935"/>
            <a:ext cx="201168" cy="2194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4167" y="3031652"/>
            <a:ext cx="4005072" cy="2651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55864" y="3791711"/>
            <a:ext cx="198120" cy="21945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3931665" y="3800602"/>
            <a:ext cx="3871595" cy="1710689"/>
            <a:chOff x="3931665" y="3800602"/>
            <a:chExt cx="3871595" cy="1710689"/>
          </a:xfrm>
        </p:grpSpPr>
        <p:sp>
          <p:nvSpPr>
            <p:cNvPr id="10" name="object 10"/>
            <p:cNvSpPr/>
            <p:nvPr/>
          </p:nvSpPr>
          <p:spPr>
            <a:xfrm>
              <a:off x="3938015" y="3806952"/>
              <a:ext cx="3858895" cy="1697989"/>
            </a:xfrm>
            <a:custGeom>
              <a:avLst/>
              <a:gdLst/>
              <a:ahLst/>
              <a:cxnLst/>
              <a:rect l="l" t="t" r="r" b="b"/>
              <a:pathLst>
                <a:path w="3858895" h="1697989">
                  <a:moveTo>
                    <a:pt x="3858767" y="0"/>
                  </a:moveTo>
                  <a:lnTo>
                    <a:pt x="0" y="0"/>
                  </a:lnTo>
                  <a:lnTo>
                    <a:pt x="0" y="1697736"/>
                  </a:lnTo>
                  <a:lnTo>
                    <a:pt x="3858767" y="1697736"/>
                  </a:lnTo>
                  <a:lnTo>
                    <a:pt x="38587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38015" y="3806952"/>
              <a:ext cx="3858895" cy="1697989"/>
            </a:xfrm>
            <a:custGeom>
              <a:avLst/>
              <a:gdLst/>
              <a:ahLst/>
              <a:cxnLst/>
              <a:rect l="l" t="t" r="r" b="b"/>
              <a:pathLst>
                <a:path w="3858895" h="1697989">
                  <a:moveTo>
                    <a:pt x="0" y="1697736"/>
                  </a:moveTo>
                  <a:lnTo>
                    <a:pt x="3858767" y="1697736"/>
                  </a:lnTo>
                  <a:lnTo>
                    <a:pt x="3858767" y="0"/>
                  </a:lnTo>
                  <a:lnTo>
                    <a:pt x="0" y="0"/>
                  </a:lnTo>
                  <a:lnTo>
                    <a:pt x="0" y="16977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26991" y="4041648"/>
              <a:ext cx="307848" cy="21945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01311" y="4998720"/>
              <a:ext cx="313943" cy="2194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08647" y="4191000"/>
              <a:ext cx="310896" cy="21945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938015" y="3806952"/>
              <a:ext cx="3858260" cy="1695450"/>
            </a:xfrm>
            <a:custGeom>
              <a:avLst/>
              <a:gdLst/>
              <a:ahLst/>
              <a:cxnLst/>
              <a:rect l="l" t="t" r="r" b="b"/>
              <a:pathLst>
                <a:path w="3858259" h="1695450">
                  <a:moveTo>
                    <a:pt x="1241044" y="0"/>
                  </a:moveTo>
                  <a:lnTo>
                    <a:pt x="0" y="1283208"/>
                  </a:lnTo>
                </a:path>
                <a:path w="3858259" h="1695450">
                  <a:moveTo>
                    <a:pt x="496824" y="765048"/>
                  </a:moveTo>
                  <a:lnTo>
                    <a:pt x="1929257" y="1695196"/>
                  </a:lnTo>
                </a:path>
                <a:path w="3858259" h="1695450">
                  <a:moveTo>
                    <a:pt x="1615439" y="1498219"/>
                  </a:moveTo>
                  <a:lnTo>
                    <a:pt x="3858260" y="847344"/>
                  </a:lnTo>
                </a:path>
                <a:path w="3858259" h="1695450">
                  <a:moveTo>
                    <a:pt x="2512187" y="1231646"/>
                  </a:moveTo>
                  <a:lnTo>
                    <a:pt x="1929384" y="0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09031" y="4300728"/>
              <a:ext cx="313943" cy="21945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70775" y="5123688"/>
              <a:ext cx="316992" cy="219456"/>
            </a:xfrm>
            <a:prstGeom prst="rect">
              <a:avLst/>
            </a:prstGeom>
          </p:spPr>
        </p:pic>
      </p:grpSp>
      <p:sp>
        <p:nvSpPr>
          <p:cNvPr id="21" name="object 2">
            <a:extLst>
              <a:ext uri="{FF2B5EF4-FFF2-40B4-BE49-F238E27FC236}">
                <a16:creationId xmlns:a16="http://schemas.microsoft.com/office/drawing/2014/main" id="{58AC4343-D01E-D60F-6B12-F063D16FFB3D}"/>
              </a:ext>
            </a:extLst>
          </p:cNvPr>
          <p:cNvSpPr txBox="1">
            <a:spLocks/>
          </p:cNvSpPr>
          <p:nvPr/>
        </p:nvSpPr>
        <p:spPr>
          <a:xfrm>
            <a:off x="838200" y="682299"/>
            <a:ext cx="10515600" cy="691215"/>
          </a:xfrm>
          <a:prstGeom prst="rect">
            <a:avLst/>
          </a:prstGeom>
        </p:spPr>
        <p:txBody>
          <a:bodyPr vert="horz" wrap="square" lIns="0" tIns="1397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lang="en-US" dirty="0"/>
              <a:t>Set</a:t>
            </a:r>
            <a:r>
              <a:rPr lang="en-US" spc="-50" dirty="0"/>
              <a:t> </a:t>
            </a:r>
            <a:r>
              <a:rPr lang="en-US" spc="-10" dirty="0"/>
              <a:t>Operations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10600" y="6368546"/>
            <a:ext cx="2743200" cy="340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z="1200" b="0" spc="-25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13</a:t>
            </a:fld>
            <a:endParaRPr sz="1200" b="0" spc="-25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0322" y="1561337"/>
            <a:ext cx="386969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-10" dirty="0">
                <a:latin typeface="Calibri"/>
                <a:cs typeface="Calibri"/>
              </a:rPr>
              <a:t>Theorem</a:t>
            </a:r>
            <a:r>
              <a:rPr sz="2800" b="1" spc="-1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471C4"/>
                </a:solidFill>
                <a:latin typeface="Calibri"/>
                <a:cs typeface="Calibri"/>
              </a:rPr>
              <a:t>De</a:t>
            </a:r>
            <a:r>
              <a:rPr sz="2600" b="1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471C4"/>
                </a:solidFill>
                <a:latin typeface="Calibri"/>
                <a:cs typeface="Calibri"/>
              </a:rPr>
              <a:t>Morgan's</a:t>
            </a:r>
            <a:r>
              <a:rPr sz="2600" b="1" spc="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4471C4"/>
                </a:solidFill>
                <a:latin typeface="Calibri"/>
                <a:cs typeface="Calibri"/>
              </a:rPr>
              <a:t>law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591" y="2587751"/>
            <a:ext cx="4361688" cy="332232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24DD73E2-E698-5238-A030-8A2ED051FA14}"/>
              </a:ext>
            </a:extLst>
          </p:cNvPr>
          <p:cNvSpPr txBox="1">
            <a:spLocks/>
          </p:cNvSpPr>
          <p:nvPr/>
        </p:nvSpPr>
        <p:spPr>
          <a:xfrm>
            <a:off x="838200" y="682299"/>
            <a:ext cx="10515600" cy="691215"/>
          </a:xfrm>
          <a:prstGeom prst="rect">
            <a:avLst/>
          </a:prstGeom>
        </p:spPr>
        <p:txBody>
          <a:bodyPr vert="horz" wrap="square" lIns="0" tIns="1397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lang="en-US" dirty="0"/>
              <a:t>Set</a:t>
            </a:r>
            <a:r>
              <a:rPr lang="en-US" spc="-50" dirty="0"/>
              <a:t> </a:t>
            </a:r>
            <a:r>
              <a:rPr lang="en-US" spc="-10" dirty="0"/>
              <a:t>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78D4FB-9F16-9F51-8A7F-3D380FF53961}"/>
              </a:ext>
            </a:extLst>
          </p:cNvPr>
          <p:cNvSpPr txBox="1"/>
          <p:nvPr/>
        </p:nvSpPr>
        <p:spPr>
          <a:xfrm>
            <a:off x="3935875" y="3570389"/>
            <a:ext cx="335526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spcAft>
                <a:spcPts val="2400"/>
              </a:spcAft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∪ </a:t>
            </a:r>
            <a:r>
              <a:rPr lang="en-US" sz="28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8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2800" i="0" baseline="30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8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800" i="0" baseline="30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∩ </a:t>
            </a:r>
            <a:r>
              <a:rPr lang="en-US" sz="2800" i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800" i="0" baseline="30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en-US" sz="2800" baseline="30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spcAft>
                <a:spcPts val="2400"/>
              </a:spcAft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∩ </a:t>
            </a:r>
            <a:r>
              <a:rPr lang="en-US" sz="28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8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2800" i="0" baseline="30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8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800" i="0" baseline="30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∪ </a:t>
            </a:r>
            <a:r>
              <a:rPr lang="en-US" sz="2800" i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800" i="0" baseline="30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en-US" sz="280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45493"/>
              </p:ext>
            </p:extLst>
          </p:nvPr>
        </p:nvGraphicFramePr>
        <p:xfrm>
          <a:off x="898194" y="800862"/>
          <a:ext cx="6819265" cy="3577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47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4210">
                <a:tc>
                  <a:txBody>
                    <a:bodyPr/>
                    <a:lstStyle/>
                    <a:p>
                      <a:pPr marL="31750">
                        <a:lnSpc>
                          <a:spcPts val="3804"/>
                        </a:lnSpc>
                      </a:pPr>
                      <a:endParaRPr sz="40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9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800" b="1" spc="-10" dirty="0">
                          <a:latin typeface="Calibri"/>
                          <a:cs typeface="Calibri"/>
                        </a:rPr>
                        <a:t>Example</a:t>
                      </a:r>
                      <a:r>
                        <a:rPr sz="2200" b="1" spc="-10" dirty="0">
                          <a:latin typeface="Calibri"/>
                          <a:cs typeface="Calibri"/>
                        </a:rPr>
                        <a:t>: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200" b="1" spc="-25" dirty="0">
                          <a:latin typeface="Calibri"/>
                          <a:cs typeface="Calibri"/>
                        </a:rPr>
                        <a:t>Let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673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2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233045">
                        <a:lnSpc>
                          <a:spcPct val="100000"/>
                        </a:lnSpc>
                      </a:pPr>
                      <a:r>
                        <a:rPr sz="2200" b="1" spc="-25" dirty="0">
                          <a:latin typeface="Calibri"/>
                          <a:cs typeface="Calibri"/>
                        </a:rPr>
                        <a:t>and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69875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R="243840" algn="r">
                        <a:lnSpc>
                          <a:spcPct val="100000"/>
                        </a:lnSpc>
                        <a:spcBef>
                          <a:spcPts val="635"/>
                        </a:spcBef>
                        <a:tabLst>
                          <a:tab pos="2837180" algn="l"/>
                        </a:tabLst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a)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06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368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06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R="225425" algn="r">
                        <a:lnSpc>
                          <a:spcPct val="100000"/>
                        </a:lnSpc>
                        <a:spcBef>
                          <a:spcPts val="865"/>
                        </a:spcBef>
                        <a:tabLst>
                          <a:tab pos="2919095" algn="l"/>
                        </a:tabLst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d)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f)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98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828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g)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985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715">
                <a:tc>
                  <a:txBody>
                    <a:bodyPr/>
                    <a:lstStyle/>
                    <a:p>
                      <a:pPr marL="341630" indent="-309880">
                        <a:lnSpc>
                          <a:spcPct val="100000"/>
                        </a:lnSpc>
                        <a:spcBef>
                          <a:spcPts val="1045"/>
                        </a:spcBef>
                        <a:buFont typeface="Wingdings"/>
                        <a:buChar char=""/>
                        <a:tabLst>
                          <a:tab pos="341630" algn="l"/>
                        </a:tabLst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sets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24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partition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of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3519" y="2100072"/>
            <a:ext cx="2919984" cy="304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87696" y="2112264"/>
            <a:ext cx="3505200" cy="28041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4272" y="2740151"/>
            <a:ext cx="826008" cy="2042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73296" y="2727960"/>
            <a:ext cx="822960" cy="2011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14272" y="3432047"/>
            <a:ext cx="356616" cy="20421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29271" y="3404615"/>
            <a:ext cx="1082040" cy="2103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73296" y="3404615"/>
            <a:ext cx="1185672" cy="27736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129271" y="2727960"/>
            <a:ext cx="344424" cy="20421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429255" y="4052454"/>
            <a:ext cx="2773680" cy="27736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819782" y="4079886"/>
            <a:ext cx="240792" cy="201168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E4E86441-E790-669D-691B-CF5325B44750}"/>
              </a:ext>
            </a:extLst>
          </p:cNvPr>
          <p:cNvSpPr txBox="1">
            <a:spLocks/>
          </p:cNvSpPr>
          <p:nvPr/>
        </p:nvSpPr>
        <p:spPr>
          <a:xfrm>
            <a:off x="838200" y="682299"/>
            <a:ext cx="10515600" cy="691215"/>
          </a:xfrm>
          <a:prstGeom prst="rect">
            <a:avLst/>
          </a:prstGeom>
        </p:spPr>
        <p:txBody>
          <a:bodyPr vert="horz" wrap="square" lIns="0" tIns="1397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lang="en-US" dirty="0"/>
              <a:t>Set</a:t>
            </a:r>
            <a:r>
              <a:rPr lang="en-US" spc="-50" dirty="0"/>
              <a:t> </a:t>
            </a:r>
            <a:r>
              <a:rPr lang="en-US" spc="-10" dirty="0"/>
              <a:t>Operations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Set</a:t>
            </a:r>
            <a:r>
              <a:rPr spc="-5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40322" y="1582623"/>
            <a:ext cx="3750310" cy="204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54"/>
              </a:lnSpc>
            </a:pPr>
            <a:r>
              <a:rPr sz="2800" b="1" dirty="0">
                <a:latin typeface="Calibri"/>
                <a:cs typeface="Calibri"/>
              </a:rPr>
              <a:t>Theorem</a:t>
            </a:r>
            <a:r>
              <a:rPr sz="2800" b="1" spc="-10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4471C4"/>
                </a:solidFill>
                <a:latin typeface="Calibri"/>
                <a:cs typeface="Calibri"/>
              </a:rPr>
              <a:t>Distributive</a:t>
            </a:r>
            <a:r>
              <a:rPr sz="2600" b="1" spc="-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4471C4"/>
                </a:solidFill>
                <a:latin typeface="Calibri"/>
                <a:cs typeface="Calibri"/>
              </a:rPr>
              <a:t>law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10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618" y="2453639"/>
            <a:ext cx="5059680" cy="3017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618" y="3288791"/>
            <a:ext cx="505968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Functions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2994" y="2332543"/>
            <a:ext cx="1411605" cy="940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099"/>
              </a:lnSpc>
              <a:spcBef>
                <a:spcPts val="95"/>
              </a:spcBef>
            </a:pPr>
            <a:r>
              <a:rPr sz="2400" b="1" spc="-10" dirty="0">
                <a:latin typeface="Calibri"/>
                <a:cs typeface="Calibri"/>
              </a:rPr>
              <a:t>Domain </a:t>
            </a:r>
            <a:r>
              <a:rPr sz="2400" b="1" dirty="0">
                <a:latin typeface="Calibri"/>
                <a:cs typeface="Calibri"/>
              </a:rPr>
              <a:t>Co-</a:t>
            </a:r>
            <a:r>
              <a:rPr sz="2400" b="1" spc="-10" dirty="0">
                <a:latin typeface="Calibri"/>
                <a:cs typeface="Calibri"/>
              </a:rPr>
              <a:t>domain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4696205"/>
            <a:ext cx="545338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Range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possible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values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of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01610" y="4748021"/>
            <a:ext cx="906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(</a:t>
            </a: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Range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38386" y="4748021"/>
            <a:ext cx="120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6216" y="1801367"/>
            <a:ext cx="1767839" cy="29565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6216" y="2535935"/>
            <a:ext cx="472440" cy="2103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6696" y="2983992"/>
            <a:ext cx="441959" cy="20726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6696" y="3520440"/>
            <a:ext cx="2840736" cy="304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41976" y="1133855"/>
            <a:ext cx="5029200" cy="322173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28232" y="4815840"/>
            <a:ext cx="731519" cy="3048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57031" y="4847983"/>
            <a:ext cx="606551" cy="2346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Functions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434644"/>
            <a:ext cx="2759710" cy="102171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800" b="1" spc="-10" dirty="0">
                <a:latin typeface="Calibri"/>
                <a:cs typeface="Calibri"/>
              </a:rPr>
              <a:t>Example</a:t>
            </a:r>
            <a:r>
              <a:rPr sz="2400" b="1" spc="-1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400" b="1" dirty="0">
                <a:latin typeface="Calibri"/>
                <a:cs typeface="Calibri"/>
              </a:rPr>
              <a:t>Consider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function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20862" y="2064207"/>
            <a:ext cx="13296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defined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4802581"/>
            <a:ext cx="33108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580" indent="-30988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Wingdings"/>
              <a:buChar char=""/>
              <a:tabLst>
                <a:tab pos="322580" algn="l"/>
              </a:tabLst>
            </a:pP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one-</a:t>
            </a:r>
            <a:r>
              <a:rPr sz="2400" b="1" spc="-20" dirty="0">
                <a:solidFill>
                  <a:srgbClr val="4471C4"/>
                </a:solidFill>
                <a:latin typeface="Calibri"/>
                <a:cs typeface="Calibri"/>
              </a:rPr>
              <a:t>to-</a:t>
            </a: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one</a:t>
            </a:r>
            <a:r>
              <a:rPr sz="2400" b="1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(invertible):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64279" y="2149320"/>
            <a:ext cx="1533144" cy="2743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76288" y="2094455"/>
            <a:ext cx="1551431" cy="3413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1455" y="2758439"/>
            <a:ext cx="1807464" cy="2651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8888" y="3377184"/>
            <a:ext cx="5007864" cy="34442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04359" y="4865088"/>
            <a:ext cx="3995928" cy="30175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5"/>
              </a:spcBef>
            </a:pPr>
            <a:r>
              <a:rPr dirty="0"/>
              <a:t>Countable</a:t>
            </a:r>
            <a:r>
              <a:rPr spc="-100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dirty="0"/>
              <a:t>Uncountable</a:t>
            </a:r>
            <a:r>
              <a:rPr spc="-120" dirty="0"/>
              <a:t> </a:t>
            </a:r>
            <a:r>
              <a:rPr spc="-20" dirty="0"/>
              <a:t>Sets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064548" y="2722575"/>
            <a:ext cx="28098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can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enumerated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1499691"/>
            <a:ext cx="6693534" cy="212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8135" algn="l"/>
              </a:tabLst>
            </a:pP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Cardinality</a:t>
            </a:r>
            <a:r>
              <a:rPr sz="2400" b="1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set</a:t>
            </a:r>
            <a:r>
              <a:rPr sz="2400" b="1" dirty="0">
                <a:latin typeface="Calibri"/>
                <a:cs typeface="Calibri"/>
              </a:rPr>
              <a:t>	is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number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elements</a:t>
            </a:r>
            <a:r>
              <a:rPr sz="2400" b="1" spc="-25" dirty="0">
                <a:latin typeface="Calibri"/>
                <a:cs typeface="Calibri"/>
              </a:rPr>
              <a:t> in</a:t>
            </a:r>
            <a:endParaRPr sz="2400" dirty="0">
              <a:latin typeface="Calibri"/>
              <a:cs typeface="Calibri"/>
            </a:endParaRPr>
          </a:p>
          <a:p>
            <a:pPr marL="804545" indent="-791845">
              <a:lnSpc>
                <a:spcPct val="100000"/>
              </a:lnSpc>
              <a:spcBef>
                <a:spcPts val="1730"/>
              </a:spcBef>
              <a:buFont typeface="Wingdings"/>
              <a:buChar char=""/>
              <a:tabLst>
                <a:tab pos="804545" algn="l"/>
              </a:tabLst>
            </a:pP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finite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if</a:t>
            </a:r>
            <a:endParaRPr sz="2400" dirty="0">
              <a:latin typeface="Calibri"/>
              <a:cs typeface="Calibri"/>
            </a:endParaRPr>
          </a:p>
          <a:p>
            <a:pPr marL="804545" indent="-791845">
              <a:lnSpc>
                <a:spcPct val="100000"/>
              </a:lnSpc>
              <a:spcBef>
                <a:spcPts val="2140"/>
              </a:spcBef>
              <a:buFont typeface="Wingdings"/>
              <a:buChar char=""/>
              <a:tabLst>
                <a:tab pos="804545" algn="l"/>
              </a:tabLst>
            </a:pP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countable</a:t>
            </a:r>
            <a:r>
              <a:rPr sz="24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finite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elements</a:t>
            </a:r>
            <a:r>
              <a:rPr sz="2400" b="1" spc="-25" dirty="0">
                <a:latin typeface="Calibri"/>
                <a:cs typeface="Calibri"/>
              </a:rPr>
              <a:t> of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155"/>
              </a:spcBef>
              <a:tabLst>
                <a:tab pos="5107305" algn="l"/>
              </a:tabLst>
            </a:pPr>
            <a:r>
              <a:rPr lang="en-US" sz="2400" b="1" dirty="0">
                <a:latin typeface="Calibri"/>
                <a:cs typeface="Calibri"/>
              </a:rPr>
              <a:t>   </a:t>
            </a:r>
            <a:r>
              <a:rPr sz="2400" b="1" dirty="0">
                <a:latin typeface="Calibri"/>
                <a:cs typeface="Calibri"/>
              </a:rPr>
              <a:t>listed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sequence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lang="en-US" sz="2400" b="1" dirty="0">
                <a:latin typeface="Calibri"/>
                <a:cs typeface="Calibri"/>
              </a:rPr>
              <a:t>  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is,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5153405"/>
            <a:ext cx="398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Calibri"/>
                <a:cs typeface="Calibri"/>
              </a:rPr>
              <a:t>Ex: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80055" y="5153405"/>
            <a:ext cx="163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countable.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4942" y="1576094"/>
            <a:ext cx="240791" cy="2164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59011" y="1542844"/>
            <a:ext cx="1036320" cy="304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19" y="2152166"/>
            <a:ext cx="243840" cy="2164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87467" y="2139695"/>
            <a:ext cx="1307591" cy="304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19" y="2798342"/>
            <a:ext cx="243840" cy="21640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1440" y="2813582"/>
            <a:ext cx="240792" cy="21336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70153" y="3371365"/>
            <a:ext cx="2084831" cy="19507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50263" y="4008120"/>
            <a:ext cx="1996439" cy="84429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48328" y="4236720"/>
            <a:ext cx="3008376" cy="3048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75232" y="5282184"/>
            <a:ext cx="2255520" cy="2773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5"/>
              </a:spcBef>
            </a:pPr>
            <a:r>
              <a:rPr dirty="0"/>
              <a:t>Countable</a:t>
            </a:r>
            <a:r>
              <a:rPr spc="-100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dirty="0"/>
              <a:t>Uncountable</a:t>
            </a:r>
            <a:r>
              <a:rPr spc="-120" dirty="0"/>
              <a:t> </a:t>
            </a:r>
            <a:r>
              <a:rPr spc="-20" dirty="0"/>
              <a:t>Sets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445747"/>
            <a:ext cx="9726295" cy="226695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Uncountable</a:t>
            </a: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:</a:t>
            </a:r>
            <a:r>
              <a:rPr sz="2400" b="1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Not</a:t>
            </a:r>
            <a:r>
              <a:rPr sz="2400" b="1" spc="-10" dirty="0">
                <a:latin typeface="Calibri"/>
                <a:cs typeface="Calibri"/>
              </a:rPr>
              <a:t> countable.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400" b="1" spc="-10" dirty="0">
                <a:latin typeface="Calibri"/>
                <a:cs typeface="Calibri"/>
              </a:rPr>
              <a:t>e.g.,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 sz="2400" dirty="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  <a:tabLst>
                <a:tab pos="2126615" algn="l"/>
              </a:tabLst>
            </a:pPr>
            <a:r>
              <a:rPr sz="2400" b="1" spc="-10" dirty="0">
                <a:latin typeface="Calibri"/>
                <a:cs typeface="Calibri"/>
              </a:rPr>
              <a:t>Equivalently:</a:t>
            </a:r>
            <a:r>
              <a:rPr sz="2400" b="1" dirty="0">
                <a:latin typeface="Calibri"/>
                <a:cs typeface="Calibri"/>
              </a:rPr>
              <a:t>	set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countably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infinite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one-</a:t>
            </a:r>
            <a:r>
              <a:rPr sz="2400" b="1" spc="-20" dirty="0">
                <a:latin typeface="Calibri"/>
                <a:cs typeface="Calibri"/>
              </a:rPr>
              <a:t>to-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correspondence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</a:pPr>
            <a:r>
              <a:rPr sz="2400" b="1" spc="-20" dirty="0">
                <a:latin typeface="Calibri"/>
                <a:cs typeface="Calibri"/>
              </a:rPr>
              <a:t>with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8119" y="2150472"/>
            <a:ext cx="1234439" cy="3017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7000" y="3034701"/>
            <a:ext cx="243839" cy="2164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83864" y="3761232"/>
            <a:ext cx="4059936" cy="84124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Countable</a:t>
            </a:r>
            <a:r>
              <a:rPr spc="-114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dirty="0"/>
              <a:t>Uncountable</a:t>
            </a:r>
            <a:r>
              <a:rPr spc="-125" dirty="0"/>
              <a:t> </a:t>
            </a:r>
            <a:r>
              <a:rPr spc="-20" dirty="0"/>
              <a:t>Sets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1533753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960"/>
              </a:spcBef>
              <a:buNone/>
            </a:pPr>
            <a:r>
              <a:rPr sz="2800" b="1" spc="-10" dirty="0"/>
              <a:t>Example</a:t>
            </a:r>
            <a:r>
              <a:rPr b="1" spc="-10" dirty="0"/>
              <a:t>:</a:t>
            </a:r>
            <a:endParaRPr sz="2800" b="1" dirty="0"/>
          </a:p>
          <a:p>
            <a:pPr marL="125095" indent="0">
              <a:lnSpc>
                <a:spcPct val="100000"/>
              </a:lnSpc>
              <a:spcBef>
                <a:spcPts val="740"/>
              </a:spcBef>
              <a:buNone/>
            </a:pPr>
            <a:r>
              <a:rPr lang="en-US" dirty="0"/>
              <a:t>   </a:t>
            </a:r>
            <a:r>
              <a:rPr sz="2400" dirty="0"/>
              <a:t>(set</a:t>
            </a:r>
            <a:r>
              <a:rPr sz="2400" spc="-40" dirty="0"/>
              <a:t> </a:t>
            </a:r>
            <a:r>
              <a:rPr sz="2400" dirty="0"/>
              <a:t>of</a:t>
            </a:r>
            <a:r>
              <a:rPr sz="2400" spc="-60" dirty="0"/>
              <a:t> </a:t>
            </a:r>
            <a:r>
              <a:rPr sz="2400" spc="-10" dirty="0"/>
              <a:t>integers)</a:t>
            </a:r>
            <a:r>
              <a:rPr sz="2400" spc="-65" dirty="0"/>
              <a:t> </a:t>
            </a:r>
            <a:r>
              <a:rPr sz="2400" dirty="0"/>
              <a:t>is</a:t>
            </a:r>
            <a:r>
              <a:rPr sz="2400" spc="-65" dirty="0"/>
              <a:t> </a:t>
            </a:r>
            <a:r>
              <a:rPr sz="2400" dirty="0"/>
              <a:t>countable</a:t>
            </a:r>
            <a:r>
              <a:rPr sz="2400" spc="-95" dirty="0"/>
              <a:t> </a:t>
            </a:r>
            <a:r>
              <a:rPr sz="2400" dirty="0"/>
              <a:t>(countably</a:t>
            </a:r>
            <a:r>
              <a:rPr sz="2400" spc="-90" dirty="0"/>
              <a:t> </a:t>
            </a:r>
            <a:r>
              <a:rPr sz="2400" spc="-10" dirty="0"/>
              <a:t>infinite).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spc="-10" dirty="0"/>
              <a:t>Because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324" y="2609654"/>
            <a:ext cx="188975" cy="2072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973" y="3049361"/>
            <a:ext cx="4572000" cy="3017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78022" y="3841841"/>
            <a:ext cx="1188720" cy="16764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156888" y="3421217"/>
            <a:ext cx="76200" cy="309880"/>
          </a:xfrm>
          <a:custGeom>
            <a:avLst/>
            <a:gdLst/>
            <a:ahLst/>
            <a:cxnLst/>
            <a:rect l="l" t="t" r="r" b="b"/>
            <a:pathLst>
              <a:path w="76200" h="309879">
                <a:moveTo>
                  <a:pt x="31698" y="75848"/>
                </a:moveTo>
                <a:lnTo>
                  <a:pt x="21462" y="308864"/>
                </a:lnTo>
                <a:lnTo>
                  <a:pt x="34162" y="309372"/>
                </a:lnTo>
                <a:lnTo>
                  <a:pt x="44338" y="77851"/>
                </a:lnTo>
                <a:lnTo>
                  <a:pt x="44401" y="76420"/>
                </a:lnTo>
                <a:lnTo>
                  <a:pt x="31698" y="75848"/>
                </a:lnTo>
                <a:close/>
              </a:path>
              <a:path w="76200" h="309879">
                <a:moveTo>
                  <a:pt x="69615" y="63119"/>
                </a:moveTo>
                <a:lnTo>
                  <a:pt x="32258" y="63119"/>
                </a:lnTo>
                <a:lnTo>
                  <a:pt x="44958" y="63754"/>
                </a:lnTo>
                <a:lnTo>
                  <a:pt x="44489" y="74422"/>
                </a:lnTo>
                <a:lnTo>
                  <a:pt x="44401" y="76420"/>
                </a:lnTo>
                <a:lnTo>
                  <a:pt x="76200" y="77851"/>
                </a:lnTo>
                <a:lnTo>
                  <a:pt x="69615" y="63119"/>
                </a:lnTo>
                <a:close/>
              </a:path>
              <a:path w="76200" h="309879">
                <a:moveTo>
                  <a:pt x="32258" y="63119"/>
                </a:moveTo>
                <a:lnTo>
                  <a:pt x="31761" y="74422"/>
                </a:lnTo>
                <a:lnTo>
                  <a:pt x="31698" y="75848"/>
                </a:lnTo>
                <a:lnTo>
                  <a:pt x="44401" y="76420"/>
                </a:lnTo>
                <a:lnTo>
                  <a:pt x="44958" y="63754"/>
                </a:lnTo>
                <a:lnTo>
                  <a:pt x="32258" y="63119"/>
                </a:lnTo>
                <a:close/>
              </a:path>
              <a:path w="76200" h="309879">
                <a:moveTo>
                  <a:pt x="41402" y="0"/>
                </a:moveTo>
                <a:lnTo>
                  <a:pt x="0" y="74422"/>
                </a:lnTo>
                <a:lnTo>
                  <a:pt x="31698" y="75848"/>
                </a:lnTo>
                <a:lnTo>
                  <a:pt x="32230" y="63754"/>
                </a:lnTo>
                <a:lnTo>
                  <a:pt x="32258" y="63119"/>
                </a:lnTo>
                <a:lnTo>
                  <a:pt x="69615" y="63119"/>
                </a:lnTo>
                <a:lnTo>
                  <a:pt x="414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28617" y="3415122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44502" y="76114"/>
                </a:moveTo>
                <a:lnTo>
                  <a:pt x="31801" y="76283"/>
                </a:lnTo>
                <a:lnTo>
                  <a:pt x="35937" y="370077"/>
                </a:lnTo>
                <a:lnTo>
                  <a:pt x="35940" y="370331"/>
                </a:lnTo>
                <a:lnTo>
                  <a:pt x="48640" y="370077"/>
                </a:lnTo>
                <a:lnTo>
                  <a:pt x="44510" y="76707"/>
                </a:lnTo>
                <a:lnTo>
                  <a:pt x="44502" y="76114"/>
                </a:lnTo>
                <a:close/>
              </a:path>
              <a:path w="76200" h="370839">
                <a:moveTo>
                  <a:pt x="37084" y="0"/>
                </a:moveTo>
                <a:lnTo>
                  <a:pt x="0" y="76707"/>
                </a:lnTo>
                <a:lnTo>
                  <a:pt x="31801" y="76283"/>
                </a:lnTo>
                <a:lnTo>
                  <a:pt x="31623" y="63626"/>
                </a:lnTo>
                <a:lnTo>
                  <a:pt x="44323" y="63373"/>
                </a:lnTo>
                <a:lnTo>
                  <a:pt x="69833" y="63373"/>
                </a:lnTo>
                <a:lnTo>
                  <a:pt x="37084" y="0"/>
                </a:lnTo>
                <a:close/>
              </a:path>
              <a:path w="76200" h="370839">
                <a:moveTo>
                  <a:pt x="44323" y="63373"/>
                </a:moveTo>
                <a:lnTo>
                  <a:pt x="31623" y="63626"/>
                </a:lnTo>
                <a:lnTo>
                  <a:pt x="31792" y="75691"/>
                </a:lnTo>
                <a:lnTo>
                  <a:pt x="31801" y="76283"/>
                </a:lnTo>
                <a:lnTo>
                  <a:pt x="44502" y="76114"/>
                </a:lnTo>
                <a:lnTo>
                  <a:pt x="44326" y="63626"/>
                </a:lnTo>
                <a:lnTo>
                  <a:pt x="44323" y="63373"/>
                </a:lnTo>
                <a:close/>
              </a:path>
              <a:path w="76200" h="370839">
                <a:moveTo>
                  <a:pt x="69833" y="63373"/>
                </a:moveTo>
                <a:lnTo>
                  <a:pt x="44323" y="63373"/>
                </a:lnTo>
                <a:lnTo>
                  <a:pt x="44496" y="75691"/>
                </a:lnTo>
                <a:lnTo>
                  <a:pt x="44502" y="76114"/>
                </a:lnTo>
                <a:lnTo>
                  <a:pt x="76200" y="75691"/>
                </a:lnTo>
                <a:lnTo>
                  <a:pt x="69833" y="63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34459" y="3415122"/>
            <a:ext cx="76200" cy="370205"/>
          </a:xfrm>
          <a:custGeom>
            <a:avLst/>
            <a:gdLst/>
            <a:ahLst/>
            <a:cxnLst/>
            <a:rect l="l" t="t" r="r" b="b"/>
            <a:pathLst>
              <a:path w="76200" h="370204">
                <a:moveTo>
                  <a:pt x="44481" y="76114"/>
                </a:moveTo>
                <a:lnTo>
                  <a:pt x="31780" y="76284"/>
                </a:lnTo>
                <a:lnTo>
                  <a:pt x="35433" y="370204"/>
                </a:lnTo>
                <a:lnTo>
                  <a:pt x="48134" y="370204"/>
                </a:lnTo>
                <a:lnTo>
                  <a:pt x="44488" y="76707"/>
                </a:lnTo>
                <a:lnTo>
                  <a:pt x="44481" y="76114"/>
                </a:lnTo>
                <a:close/>
              </a:path>
              <a:path w="76200" h="370204">
                <a:moveTo>
                  <a:pt x="37211" y="0"/>
                </a:moveTo>
                <a:lnTo>
                  <a:pt x="0" y="76707"/>
                </a:lnTo>
                <a:lnTo>
                  <a:pt x="31780" y="76284"/>
                </a:lnTo>
                <a:lnTo>
                  <a:pt x="31623" y="63626"/>
                </a:lnTo>
                <a:lnTo>
                  <a:pt x="44323" y="63373"/>
                </a:lnTo>
                <a:lnTo>
                  <a:pt x="69854" y="63373"/>
                </a:lnTo>
                <a:lnTo>
                  <a:pt x="37211" y="0"/>
                </a:lnTo>
                <a:close/>
              </a:path>
              <a:path w="76200" h="370204">
                <a:moveTo>
                  <a:pt x="44323" y="63373"/>
                </a:moveTo>
                <a:lnTo>
                  <a:pt x="31623" y="63626"/>
                </a:lnTo>
                <a:lnTo>
                  <a:pt x="31772" y="75691"/>
                </a:lnTo>
                <a:lnTo>
                  <a:pt x="31780" y="76284"/>
                </a:lnTo>
                <a:lnTo>
                  <a:pt x="44481" y="76114"/>
                </a:lnTo>
                <a:lnTo>
                  <a:pt x="44326" y="63626"/>
                </a:lnTo>
                <a:lnTo>
                  <a:pt x="44323" y="63373"/>
                </a:lnTo>
                <a:close/>
              </a:path>
              <a:path w="76200" h="370204">
                <a:moveTo>
                  <a:pt x="69854" y="63373"/>
                </a:moveTo>
                <a:lnTo>
                  <a:pt x="44323" y="63373"/>
                </a:lnTo>
                <a:lnTo>
                  <a:pt x="44476" y="75691"/>
                </a:lnTo>
                <a:lnTo>
                  <a:pt x="44481" y="76114"/>
                </a:lnTo>
                <a:lnTo>
                  <a:pt x="76200" y="75691"/>
                </a:lnTo>
                <a:lnTo>
                  <a:pt x="69854" y="63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Countable</a:t>
            </a:r>
            <a:r>
              <a:rPr spc="-114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dirty="0"/>
              <a:t>Uncountable</a:t>
            </a:r>
            <a:r>
              <a:rPr spc="-125" dirty="0"/>
              <a:t> </a:t>
            </a:r>
            <a:r>
              <a:rPr spc="-20" dirty="0"/>
              <a:t>Sets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408632"/>
            <a:ext cx="3483610" cy="110172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800" b="1" spc="-10" dirty="0">
                <a:latin typeface="Calibri"/>
                <a:cs typeface="Calibri"/>
              </a:rPr>
              <a:t>Example: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2400" b="1" dirty="0">
                <a:latin typeface="Calibri"/>
                <a:cs typeface="Calibri"/>
              </a:rPr>
              <a:t>Show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form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3148" y="2118436"/>
            <a:ext cx="16370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countable.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3207779"/>
            <a:ext cx="7749540" cy="110045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800" b="1" spc="-10" dirty="0">
                <a:latin typeface="Calibri"/>
                <a:cs typeface="Calibri"/>
              </a:rPr>
              <a:t>Example: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2400" b="1" dirty="0">
                <a:latin typeface="Calibri"/>
                <a:cs typeface="Calibri"/>
              </a:rPr>
              <a:t>Show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positive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rational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number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form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countable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set: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7807" y="1922180"/>
            <a:ext cx="4047743" cy="8839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83506" y="3725343"/>
            <a:ext cx="2231135" cy="88696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68545"/>
            <a:ext cx="2743200" cy="340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2</a:t>
            </a:r>
            <a:r>
              <a:rPr lang="en-US" spc="-25" dirty="0"/>
              <a:t>2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39277" y="1454404"/>
            <a:ext cx="7418070" cy="934719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864235" algn="l"/>
              </a:tabLst>
            </a:pPr>
            <a:r>
              <a:rPr sz="2400" b="1" spc="-25" dirty="0">
                <a:latin typeface="Calibri"/>
                <a:cs typeface="Calibri"/>
              </a:rPr>
              <a:t>But</a:t>
            </a:r>
            <a:r>
              <a:rPr sz="2400" b="1" dirty="0">
                <a:latin typeface="Calibri"/>
                <a:cs typeface="Calibri"/>
              </a:rPr>
              <a:t>	is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not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countable</a:t>
            </a:r>
            <a:r>
              <a:rPr sz="2400" b="1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3391535" algn="l"/>
                <a:tab pos="5284470" algn="l"/>
              </a:tabLst>
            </a:pP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fact,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interval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10" dirty="0">
                <a:latin typeface="Calibri"/>
                <a:cs typeface="Calibri"/>
              </a:rPr>
              <a:t>where</a:t>
            </a:r>
            <a:r>
              <a:rPr sz="2400" b="1" dirty="0">
                <a:latin typeface="Calibri"/>
                <a:cs typeface="Calibri"/>
              </a:rPr>
              <a:t>	is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not</a:t>
            </a:r>
            <a:r>
              <a:rPr sz="2400" b="1" spc="55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countable</a:t>
            </a:r>
            <a:r>
              <a:rPr sz="2400" b="1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0253" y="1627910"/>
            <a:ext cx="210312" cy="2103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29366" y="2067924"/>
            <a:ext cx="621791" cy="304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80580" y="2092025"/>
            <a:ext cx="792479" cy="2346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8125" y="2825495"/>
            <a:ext cx="4035552" cy="3048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8125" y="3642359"/>
            <a:ext cx="4075176" cy="304800"/>
          </a:xfrm>
          <a:prstGeom prst="rect">
            <a:avLst/>
          </a:prstGeom>
        </p:spPr>
      </p:pic>
      <p:sp>
        <p:nvSpPr>
          <p:cNvPr id="12" name="object 2">
            <a:extLst>
              <a:ext uri="{FF2B5EF4-FFF2-40B4-BE49-F238E27FC236}">
                <a16:creationId xmlns:a16="http://schemas.microsoft.com/office/drawing/2014/main" id="{A44DEB52-F57A-7C02-3E14-869FD93E22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Countable</a:t>
            </a:r>
            <a:r>
              <a:rPr spc="-114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dirty="0"/>
              <a:t>Uncountable</a:t>
            </a:r>
            <a:r>
              <a:rPr spc="-125" dirty="0"/>
              <a:t> </a:t>
            </a:r>
            <a:r>
              <a:rPr spc="-20" dirty="0"/>
              <a:t>Sets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5"/>
              </a:spcBef>
            </a:pPr>
            <a:r>
              <a:rPr dirty="0"/>
              <a:t>Random</a:t>
            </a:r>
            <a:r>
              <a:rPr spc="-45" dirty="0"/>
              <a:t> </a:t>
            </a:r>
            <a:r>
              <a:rPr spc="-10" dirty="0"/>
              <a:t>experiment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68545"/>
            <a:ext cx="2743200" cy="340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lang="en-US" spc="-25" dirty="0"/>
              <a:t>23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581012"/>
            <a:ext cx="9495790" cy="2694327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90"/>
              </a:spcBef>
            </a:pP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Random</a:t>
            </a:r>
            <a:r>
              <a:rPr sz="2800" b="1" spc="-9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experiment:</a:t>
            </a:r>
            <a:r>
              <a:rPr sz="2800" b="1" spc="-8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endParaRPr lang="en-US" sz="2800" b="1" spc="-80" dirty="0">
              <a:solidFill>
                <a:srgbClr val="4471C4"/>
              </a:solidFill>
              <a:latin typeface="Calibri"/>
              <a:cs typeface="Calibri"/>
            </a:endParaRPr>
          </a:p>
          <a:p>
            <a:pPr marL="12700" marR="5080">
              <a:lnSpc>
                <a:spcPts val="3020"/>
              </a:lnSpc>
              <a:spcBef>
                <a:spcPts val="490"/>
              </a:spcBef>
              <a:spcAft>
                <a:spcPts val="1800"/>
              </a:spcAft>
            </a:pP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phenomenon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whose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outcome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cannot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be </a:t>
            </a:r>
            <a:r>
              <a:rPr sz="2400" b="1" dirty="0">
                <a:latin typeface="Calibri"/>
                <a:cs typeface="Calibri"/>
              </a:rPr>
              <a:t>predicted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certainty,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such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as</a:t>
            </a:r>
            <a:endParaRPr sz="2400" dirty="0">
              <a:latin typeface="Calibri"/>
              <a:cs typeface="Calibri"/>
            </a:endParaRPr>
          </a:p>
          <a:p>
            <a:pPr marL="687388" indent="-227013">
              <a:lnSpc>
                <a:spcPct val="100000"/>
              </a:lnSpc>
              <a:spcBef>
                <a:spcPts val="130"/>
              </a:spcBef>
              <a:tabLst>
                <a:tab pos="169863" algn="l"/>
              </a:tabLst>
            </a:pPr>
            <a:r>
              <a:rPr sz="2400" b="1" dirty="0">
                <a:latin typeface="Calibri"/>
                <a:cs typeface="Calibri"/>
              </a:rPr>
              <a:t>Random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experiment:</a:t>
            </a:r>
            <a:endParaRPr sz="2400" dirty="0">
              <a:latin typeface="Calibri"/>
              <a:cs typeface="Calibri"/>
            </a:endParaRPr>
          </a:p>
          <a:p>
            <a:pPr marL="687388" indent="-227013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169863" algn="l"/>
              </a:tabLst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Roll</a:t>
            </a:r>
            <a:r>
              <a:rPr sz="24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die</a:t>
            </a:r>
            <a:endParaRPr sz="2400" dirty="0">
              <a:latin typeface="Calibri"/>
              <a:cs typeface="Calibri"/>
            </a:endParaRPr>
          </a:p>
          <a:p>
            <a:pPr marL="687388" indent="-227013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169863" algn="l"/>
              </a:tabLst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Roll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die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three</a:t>
            </a:r>
            <a:r>
              <a:rPr sz="24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times</a:t>
            </a:r>
            <a:endParaRPr sz="2400" dirty="0">
              <a:latin typeface="Calibri"/>
              <a:cs typeface="Calibri"/>
            </a:endParaRPr>
          </a:p>
          <a:p>
            <a:pPr marL="687388" indent="-227013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169863" algn="l"/>
              </a:tabLst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Flip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coin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68545"/>
            <a:ext cx="2743200" cy="340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lang="en-US" spc="-25" dirty="0"/>
              <a:t>24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452678"/>
            <a:ext cx="6321425" cy="1936114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Outcome: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outcome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result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random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experiment.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  <a:tab pos="2489835" algn="l"/>
              </a:tabLst>
            </a:pPr>
            <a:r>
              <a:rPr sz="2400" b="1" dirty="0">
                <a:latin typeface="Calibri"/>
                <a:cs typeface="Calibri"/>
              </a:rPr>
              <a:t>Roll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die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50" dirty="0">
                <a:latin typeface="Calibri"/>
                <a:cs typeface="Calibri"/>
              </a:rPr>
              <a:t>3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  <a:tab pos="3482975" algn="l"/>
              </a:tabLst>
            </a:pPr>
            <a:r>
              <a:rPr sz="2400" b="1" dirty="0">
                <a:latin typeface="Calibri"/>
                <a:cs typeface="Calibri"/>
              </a:rPr>
              <a:t>Roll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times</a:t>
            </a:r>
            <a:r>
              <a:rPr sz="2400" b="1" dirty="0">
                <a:latin typeface="Calibri"/>
                <a:cs typeface="Calibri"/>
              </a:rPr>
              <a:t>	(2,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3,</a:t>
            </a:r>
            <a:r>
              <a:rPr sz="2400" b="1" spc="-25" dirty="0">
                <a:latin typeface="Calibri"/>
                <a:cs typeface="Calibri"/>
              </a:rPr>
              <a:t> 6)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84120" y="2750820"/>
            <a:ext cx="825500" cy="76200"/>
          </a:xfrm>
          <a:custGeom>
            <a:avLst/>
            <a:gdLst/>
            <a:ahLst/>
            <a:cxnLst/>
            <a:rect l="l" t="t" r="r" b="b"/>
            <a:pathLst>
              <a:path w="825500" h="76200">
                <a:moveTo>
                  <a:pt x="749300" y="0"/>
                </a:moveTo>
                <a:lnTo>
                  <a:pt x="749300" y="76200"/>
                </a:lnTo>
                <a:lnTo>
                  <a:pt x="806450" y="47625"/>
                </a:lnTo>
                <a:lnTo>
                  <a:pt x="762000" y="47625"/>
                </a:lnTo>
                <a:lnTo>
                  <a:pt x="762000" y="28575"/>
                </a:lnTo>
                <a:lnTo>
                  <a:pt x="806450" y="28575"/>
                </a:lnTo>
                <a:lnTo>
                  <a:pt x="749300" y="0"/>
                </a:lnTo>
                <a:close/>
              </a:path>
              <a:path w="825500" h="76200">
                <a:moveTo>
                  <a:pt x="7493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749300" y="47625"/>
                </a:lnTo>
                <a:lnTo>
                  <a:pt x="749300" y="28575"/>
                </a:lnTo>
                <a:close/>
              </a:path>
              <a:path w="825500" h="76200">
                <a:moveTo>
                  <a:pt x="806450" y="28575"/>
                </a:moveTo>
                <a:lnTo>
                  <a:pt x="762000" y="28575"/>
                </a:lnTo>
                <a:lnTo>
                  <a:pt x="762000" y="47625"/>
                </a:lnTo>
                <a:lnTo>
                  <a:pt x="806450" y="47625"/>
                </a:lnTo>
                <a:lnTo>
                  <a:pt x="825500" y="38100"/>
                </a:lnTo>
                <a:lnTo>
                  <a:pt x="8064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59479" y="3195827"/>
            <a:ext cx="825500" cy="76200"/>
          </a:xfrm>
          <a:custGeom>
            <a:avLst/>
            <a:gdLst/>
            <a:ahLst/>
            <a:cxnLst/>
            <a:rect l="l" t="t" r="r" b="b"/>
            <a:pathLst>
              <a:path w="825500" h="76200">
                <a:moveTo>
                  <a:pt x="749300" y="0"/>
                </a:moveTo>
                <a:lnTo>
                  <a:pt x="749300" y="76200"/>
                </a:lnTo>
                <a:lnTo>
                  <a:pt x="806450" y="47625"/>
                </a:lnTo>
                <a:lnTo>
                  <a:pt x="762000" y="47625"/>
                </a:lnTo>
                <a:lnTo>
                  <a:pt x="762000" y="28575"/>
                </a:lnTo>
                <a:lnTo>
                  <a:pt x="806450" y="28575"/>
                </a:lnTo>
                <a:lnTo>
                  <a:pt x="749300" y="0"/>
                </a:lnTo>
                <a:close/>
              </a:path>
              <a:path w="825500" h="76200">
                <a:moveTo>
                  <a:pt x="7493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749300" y="47625"/>
                </a:lnTo>
                <a:lnTo>
                  <a:pt x="749300" y="28575"/>
                </a:lnTo>
                <a:close/>
              </a:path>
              <a:path w="825500" h="76200">
                <a:moveTo>
                  <a:pt x="806450" y="28575"/>
                </a:moveTo>
                <a:lnTo>
                  <a:pt x="762000" y="28575"/>
                </a:lnTo>
                <a:lnTo>
                  <a:pt x="762000" y="47625"/>
                </a:lnTo>
                <a:lnTo>
                  <a:pt x="806450" y="47625"/>
                </a:lnTo>
                <a:lnTo>
                  <a:pt x="825500" y="38100"/>
                </a:lnTo>
                <a:lnTo>
                  <a:pt x="8064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898A429-851C-E4ED-2E19-C820F3CD07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5"/>
              </a:spcBef>
            </a:pPr>
            <a:r>
              <a:rPr dirty="0"/>
              <a:t>Random</a:t>
            </a:r>
            <a:r>
              <a:rPr spc="-45" dirty="0"/>
              <a:t> </a:t>
            </a:r>
            <a:r>
              <a:rPr spc="-10" dirty="0"/>
              <a:t>experiment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Random</a:t>
            </a:r>
            <a:r>
              <a:rPr spc="-55" dirty="0"/>
              <a:t> </a:t>
            </a:r>
            <a:r>
              <a:rPr spc="-10" dirty="0"/>
              <a:t>experiment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68545"/>
            <a:ext cx="2743200" cy="340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lang="en-US" spc="-25" dirty="0"/>
              <a:t>25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380511"/>
            <a:ext cx="5542280" cy="1549142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Events: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event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collection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possible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outcomes.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Roll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(Event=E)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952" y="3322756"/>
            <a:ext cx="1935480" cy="2773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08247" y="3322756"/>
            <a:ext cx="1630679" cy="2804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77128" y="3322756"/>
            <a:ext cx="1240535" cy="28041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68545"/>
            <a:ext cx="2743200" cy="340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lang="en-US" spc="-25" dirty="0"/>
              <a:t>26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473258"/>
            <a:ext cx="6726555" cy="991938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Sample</a:t>
            </a:r>
            <a:r>
              <a:rPr sz="2800" b="1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Space: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4284345" algn="l"/>
              </a:tabLst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sample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space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all</a:t>
            </a:r>
            <a:r>
              <a:rPr lang="en-US"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possible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outcomes.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2529767"/>
            <a:ext cx="14960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Roll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die: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48253" y="2562729"/>
            <a:ext cx="21234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Calibri"/>
                <a:cs typeface="Calibri"/>
              </a:rPr>
              <a:t>random</a:t>
            </a:r>
            <a:r>
              <a:rPr sz="2000" b="1" spc="-11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experiment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7244" y="3789226"/>
            <a:ext cx="29349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Roll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three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times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 rot="21433110">
            <a:off x="2592384" y="2640487"/>
            <a:ext cx="750287" cy="176642"/>
          </a:xfrm>
          <a:custGeom>
            <a:avLst/>
            <a:gdLst/>
            <a:ahLst/>
            <a:cxnLst/>
            <a:rect l="l" t="t" r="r" b="b"/>
            <a:pathLst>
              <a:path w="851535" h="76200">
                <a:moveTo>
                  <a:pt x="76707" y="0"/>
                </a:moveTo>
                <a:lnTo>
                  <a:pt x="0" y="36957"/>
                </a:lnTo>
                <a:lnTo>
                  <a:pt x="75564" y="76200"/>
                </a:lnTo>
                <a:lnTo>
                  <a:pt x="76042" y="44386"/>
                </a:lnTo>
                <a:lnTo>
                  <a:pt x="63372" y="44196"/>
                </a:lnTo>
                <a:lnTo>
                  <a:pt x="63517" y="36957"/>
                </a:lnTo>
                <a:lnTo>
                  <a:pt x="63626" y="31496"/>
                </a:lnTo>
                <a:lnTo>
                  <a:pt x="76235" y="31496"/>
                </a:lnTo>
                <a:lnTo>
                  <a:pt x="76707" y="0"/>
                </a:lnTo>
                <a:close/>
              </a:path>
              <a:path w="851535" h="76200">
                <a:moveTo>
                  <a:pt x="76232" y="31685"/>
                </a:moveTo>
                <a:lnTo>
                  <a:pt x="76153" y="36957"/>
                </a:lnTo>
                <a:lnTo>
                  <a:pt x="76042" y="44386"/>
                </a:lnTo>
                <a:lnTo>
                  <a:pt x="850772" y="56007"/>
                </a:lnTo>
                <a:lnTo>
                  <a:pt x="851005" y="44386"/>
                </a:lnTo>
                <a:lnTo>
                  <a:pt x="851026" y="43307"/>
                </a:lnTo>
                <a:lnTo>
                  <a:pt x="76232" y="31685"/>
                </a:lnTo>
                <a:close/>
              </a:path>
              <a:path w="851535" h="76200">
                <a:moveTo>
                  <a:pt x="63626" y="31496"/>
                </a:moveTo>
                <a:lnTo>
                  <a:pt x="63390" y="43307"/>
                </a:lnTo>
                <a:lnTo>
                  <a:pt x="63372" y="44196"/>
                </a:lnTo>
                <a:lnTo>
                  <a:pt x="76042" y="44386"/>
                </a:lnTo>
                <a:lnTo>
                  <a:pt x="76153" y="36957"/>
                </a:lnTo>
                <a:lnTo>
                  <a:pt x="76232" y="31685"/>
                </a:lnTo>
                <a:lnTo>
                  <a:pt x="63626" y="31496"/>
                </a:lnTo>
                <a:close/>
              </a:path>
              <a:path w="851535" h="76200">
                <a:moveTo>
                  <a:pt x="76235" y="31496"/>
                </a:moveTo>
                <a:lnTo>
                  <a:pt x="63626" y="31496"/>
                </a:lnTo>
                <a:lnTo>
                  <a:pt x="76232" y="31685"/>
                </a:lnTo>
                <a:lnTo>
                  <a:pt x="76235" y="314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3196567"/>
            <a:ext cx="2852928" cy="304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8239" y="4464536"/>
            <a:ext cx="8534400" cy="30175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5399785" y="4878810"/>
            <a:ext cx="366395" cy="452755"/>
          </a:xfrm>
          <a:custGeom>
            <a:avLst/>
            <a:gdLst/>
            <a:ahLst/>
            <a:cxnLst/>
            <a:rect l="l" t="t" r="r" b="b"/>
            <a:pathLst>
              <a:path w="366395" h="452754">
                <a:moveTo>
                  <a:pt x="0" y="371093"/>
                </a:moveTo>
                <a:lnTo>
                  <a:pt x="25653" y="452373"/>
                </a:lnTo>
                <a:lnTo>
                  <a:pt x="69661" y="391032"/>
                </a:lnTo>
                <a:lnTo>
                  <a:pt x="41910" y="391032"/>
                </a:lnTo>
                <a:lnTo>
                  <a:pt x="29463" y="388365"/>
                </a:lnTo>
                <a:lnTo>
                  <a:pt x="32054" y="376229"/>
                </a:lnTo>
                <a:lnTo>
                  <a:pt x="0" y="371093"/>
                </a:lnTo>
                <a:close/>
              </a:path>
              <a:path w="366395" h="452754">
                <a:moveTo>
                  <a:pt x="32054" y="376229"/>
                </a:moveTo>
                <a:lnTo>
                  <a:pt x="29463" y="388365"/>
                </a:lnTo>
                <a:lnTo>
                  <a:pt x="41910" y="391032"/>
                </a:lnTo>
                <a:lnTo>
                  <a:pt x="44627" y="378243"/>
                </a:lnTo>
                <a:lnTo>
                  <a:pt x="32054" y="376229"/>
                </a:lnTo>
                <a:close/>
              </a:path>
              <a:path w="366395" h="452754">
                <a:moveTo>
                  <a:pt x="44627" y="378243"/>
                </a:moveTo>
                <a:lnTo>
                  <a:pt x="41910" y="391032"/>
                </a:lnTo>
                <a:lnTo>
                  <a:pt x="69661" y="391032"/>
                </a:lnTo>
                <a:lnTo>
                  <a:pt x="75311" y="383158"/>
                </a:lnTo>
                <a:lnTo>
                  <a:pt x="44627" y="378243"/>
                </a:lnTo>
                <a:close/>
              </a:path>
              <a:path w="366395" h="452754">
                <a:moveTo>
                  <a:pt x="208460" y="218585"/>
                </a:moveTo>
                <a:lnTo>
                  <a:pt x="200407" y="219744"/>
                </a:lnTo>
                <a:lnTo>
                  <a:pt x="199701" y="219744"/>
                </a:lnTo>
                <a:lnTo>
                  <a:pt x="192531" y="220090"/>
                </a:lnTo>
                <a:lnTo>
                  <a:pt x="151637" y="228218"/>
                </a:lnTo>
                <a:lnTo>
                  <a:pt x="112944" y="251027"/>
                </a:lnTo>
                <a:lnTo>
                  <a:pt x="85343" y="277621"/>
                </a:lnTo>
                <a:lnTo>
                  <a:pt x="61340" y="310133"/>
                </a:lnTo>
                <a:lnTo>
                  <a:pt x="41783" y="347344"/>
                </a:lnTo>
                <a:lnTo>
                  <a:pt x="32054" y="376229"/>
                </a:lnTo>
                <a:lnTo>
                  <a:pt x="44627" y="378243"/>
                </a:lnTo>
                <a:lnTo>
                  <a:pt x="46039" y="371601"/>
                </a:lnTo>
                <a:lnTo>
                  <a:pt x="46119" y="371093"/>
                </a:lnTo>
                <a:lnTo>
                  <a:pt x="46227" y="370712"/>
                </a:lnTo>
                <a:lnTo>
                  <a:pt x="47542" y="367537"/>
                </a:lnTo>
                <a:lnTo>
                  <a:pt x="52966" y="353467"/>
                </a:lnTo>
                <a:lnTo>
                  <a:pt x="61989" y="334390"/>
                </a:lnTo>
                <a:lnTo>
                  <a:pt x="82382" y="301676"/>
                </a:lnTo>
                <a:lnTo>
                  <a:pt x="107823" y="272414"/>
                </a:lnTo>
                <a:lnTo>
                  <a:pt x="149510" y="243060"/>
                </a:lnTo>
                <a:lnTo>
                  <a:pt x="178044" y="234009"/>
                </a:lnTo>
                <a:lnTo>
                  <a:pt x="178333" y="234009"/>
                </a:lnTo>
                <a:lnTo>
                  <a:pt x="184763" y="233071"/>
                </a:lnTo>
                <a:lnTo>
                  <a:pt x="193039" y="232663"/>
                </a:lnTo>
                <a:lnTo>
                  <a:pt x="201167" y="232409"/>
                </a:lnTo>
                <a:lnTo>
                  <a:pt x="209423" y="231266"/>
                </a:lnTo>
                <a:lnTo>
                  <a:pt x="246094" y="218750"/>
                </a:lnTo>
                <a:lnTo>
                  <a:pt x="207620" y="218750"/>
                </a:lnTo>
                <a:lnTo>
                  <a:pt x="208460" y="218585"/>
                </a:lnTo>
                <a:close/>
              </a:path>
              <a:path w="366395" h="452754">
                <a:moveTo>
                  <a:pt x="178333" y="234009"/>
                </a:moveTo>
                <a:lnTo>
                  <a:pt x="178044" y="234009"/>
                </a:lnTo>
                <a:lnTo>
                  <a:pt x="176896" y="234231"/>
                </a:lnTo>
                <a:lnTo>
                  <a:pt x="178333" y="234009"/>
                </a:lnTo>
                <a:close/>
              </a:path>
              <a:path w="366395" h="452754">
                <a:moveTo>
                  <a:pt x="353694" y="0"/>
                </a:moveTo>
                <a:lnTo>
                  <a:pt x="352718" y="20261"/>
                </a:lnTo>
                <a:lnTo>
                  <a:pt x="350200" y="40169"/>
                </a:lnTo>
                <a:lnTo>
                  <a:pt x="350091" y="41031"/>
                </a:lnTo>
                <a:lnTo>
                  <a:pt x="350012" y="41655"/>
                </a:lnTo>
                <a:lnTo>
                  <a:pt x="349871" y="41655"/>
                </a:lnTo>
                <a:lnTo>
                  <a:pt x="345526" y="61331"/>
                </a:lnTo>
                <a:lnTo>
                  <a:pt x="345403" y="61888"/>
                </a:lnTo>
                <a:lnTo>
                  <a:pt x="339685" y="80998"/>
                </a:lnTo>
                <a:lnTo>
                  <a:pt x="339578" y="81263"/>
                </a:lnTo>
                <a:lnTo>
                  <a:pt x="339501" y="81552"/>
                </a:lnTo>
                <a:lnTo>
                  <a:pt x="323130" y="119183"/>
                </a:lnTo>
                <a:lnTo>
                  <a:pt x="302879" y="151708"/>
                </a:lnTo>
                <a:lnTo>
                  <a:pt x="302489" y="152181"/>
                </a:lnTo>
                <a:lnTo>
                  <a:pt x="302104" y="152744"/>
                </a:lnTo>
                <a:lnTo>
                  <a:pt x="264851" y="191515"/>
                </a:lnTo>
                <a:lnTo>
                  <a:pt x="228917" y="212807"/>
                </a:lnTo>
                <a:lnTo>
                  <a:pt x="214502" y="217423"/>
                </a:lnTo>
                <a:lnTo>
                  <a:pt x="214358" y="217423"/>
                </a:lnTo>
                <a:lnTo>
                  <a:pt x="207620" y="218750"/>
                </a:lnTo>
                <a:lnTo>
                  <a:pt x="246094" y="218750"/>
                </a:lnTo>
                <a:lnTo>
                  <a:pt x="257683" y="212343"/>
                </a:lnTo>
                <a:lnTo>
                  <a:pt x="300227" y="175132"/>
                </a:lnTo>
                <a:lnTo>
                  <a:pt x="324358" y="142620"/>
                </a:lnTo>
                <a:lnTo>
                  <a:pt x="343915" y="105409"/>
                </a:lnTo>
                <a:lnTo>
                  <a:pt x="357886" y="64769"/>
                </a:lnTo>
                <a:lnTo>
                  <a:pt x="362831" y="41655"/>
                </a:lnTo>
                <a:lnTo>
                  <a:pt x="350012" y="41655"/>
                </a:lnTo>
                <a:lnTo>
                  <a:pt x="350091" y="41031"/>
                </a:lnTo>
                <a:lnTo>
                  <a:pt x="362912" y="41031"/>
                </a:lnTo>
                <a:lnTo>
                  <a:pt x="365378" y="21970"/>
                </a:lnTo>
                <a:lnTo>
                  <a:pt x="366267" y="507"/>
                </a:lnTo>
                <a:lnTo>
                  <a:pt x="3536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45533" y="5351885"/>
            <a:ext cx="1152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an </a:t>
            </a:r>
            <a:r>
              <a:rPr sz="1800" b="1" spc="-10" dirty="0">
                <a:latin typeface="Calibri"/>
                <a:cs typeface="Calibri"/>
              </a:rPr>
              <a:t>outcome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EADA6AF2-C426-B094-A8EF-A9CD9C742C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5"/>
              </a:spcBef>
            </a:pPr>
            <a:r>
              <a:rPr dirty="0"/>
              <a:t>Random</a:t>
            </a:r>
            <a:r>
              <a:rPr spc="-45" dirty="0"/>
              <a:t> </a:t>
            </a:r>
            <a:r>
              <a:rPr spc="-10" dirty="0"/>
              <a:t>experiment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68545"/>
            <a:ext cx="2743200" cy="340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lang="en-US" spc="-25" dirty="0"/>
              <a:t>27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783435" y="1598988"/>
            <a:ext cx="423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4471C4"/>
                </a:solidFill>
                <a:latin typeface="Calibri"/>
                <a:cs typeface="Calibri"/>
              </a:rPr>
              <a:t>Set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0423" y="1510989"/>
            <a:ext cx="2059305" cy="139128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790"/>
              </a:spcBef>
              <a:buClr>
                <a:srgbClr val="000000"/>
              </a:buClr>
              <a:buFont typeface="Wingdings"/>
              <a:buChar char=""/>
              <a:tabLst>
                <a:tab pos="323215" algn="l"/>
              </a:tabLst>
            </a:pP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Event</a:t>
            </a:r>
            <a:endParaRPr sz="2400" dirty="0">
              <a:latin typeface="Calibri"/>
              <a:cs typeface="Calibri"/>
            </a:endParaRPr>
          </a:p>
          <a:p>
            <a:pPr marL="323215" indent="-310515">
              <a:lnSpc>
                <a:spcPct val="100000"/>
              </a:lnSpc>
              <a:spcBef>
                <a:spcPts val="695"/>
              </a:spcBef>
              <a:buClr>
                <a:srgbClr val="000000"/>
              </a:buClr>
              <a:buFont typeface="Wingdings"/>
              <a:buChar char=""/>
              <a:tabLst>
                <a:tab pos="323215" algn="l"/>
              </a:tabLst>
            </a:pP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Sample</a:t>
            </a:r>
            <a:r>
              <a:rPr sz="2400" b="1" spc="-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4471C4"/>
                </a:solidFill>
                <a:latin typeface="Calibri"/>
                <a:cs typeface="Calibri"/>
              </a:rPr>
              <a:t>space</a:t>
            </a:r>
            <a:endParaRPr sz="2400" dirty="0">
              <a:latin typeface="Calibri"/>
              <a:cs typeface="Calibri"/>
            </a:endParaRPr>
          </a:p>
          <a:p>
            <a:pPr marL="323215" indent="-310515">
              <a:lnSpc>
                <a:spcPct val="100000"/>
              </a:lnSpc>
              <a:spcBef>
                <a:spcPts val="725"/>
              </a:spcBef>
              <a:buClr>
                <a:srgbClr val="000000"/>
              </a:buClr>
              <a:buFont typeface="Wingdings"/>
              <a:buChar char=""/>
              <a:tabLst>
                <a:tab pos="323215" algn="l"/>
              </a:tabLst>
            </a:pP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Outcome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0463" y="1961379"/>
            <a:ext cx="230187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27380">
              <a:lnSpc>
                <a:spcPct val="125099"/>
              </a:lnSpc>
              <a:spcBef>
                <a:spcPts val="100"/>
              </a:spcBef>
            </a:pP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Universal</a:t>
            </a:r>
            <a:r>
              <a:rPr sz="2400" b="1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4471C4"/>
                </a:solidFill>
                <a:latin typeface="Calibri"/>
                <a:cs typeface="Calibri"/>
              </a:rPr>
              <a:t>Set </a:t>
            </a: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Element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14828" y="3329733"/>
            <a:ext cx="56292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occurs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outcome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experiment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4927" y="3358014"/>
            <a:ext cx="261937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event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05967" y="1707908"/>
            <a:ext cx="1384300" cy="181460"/>
          </a:xfrm>
          <a:custGeom>
            <a:avLst/>
            <a:gdLst/>
            <a:ahLst/>
            <a:cxnLst/>
            <a:rect l="l" t="t" r="r" b="b"/>
            <a:pathLst>
              <a:path w="13843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384300" h="76200">
                <a:moveTo>
                  <a:pt x="1308100" y="0"/>
                </a:moveTo>
                <a:lnTo>
                  <a:pt x="1308100" y="76200"/>
                </a:lnTo>
                <a:lnTo>
                  <a:pt x="1371600" y="44450"/>
                </a:lnTo>
                <a:lnTo>
                  <a:pt x="1320800" y="44450"/>
                </a:lnTo>
                <a:lnTo>
                  <a:pt x="1320800" y="31750"/>
                </a:lnTo>
                <a:lnTo>
                  <a:pt x="1371600" y="31750"/>
                </a:lnTo>
                <a:lnTo>
                  <a:pt x="1308100" y="0"/>
                </a:lnTo>
                <a:close/>
              </a:path>
              <a:path w="138430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384300" h="76200">
                <a:moveTo>
                  <a:pt x="130810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308100" y="44450"/>
                </a:lnTo>
                <a:lnTo>
                  <a:pt x="1308100" y="31750"/>
                </a:lnTo>
                <a:close/>
              </a:path>
              <a:path w="1384300" h="76200">
                <a:moveTo>
                  <a:pt x="1371600" y="31750"/>
                </a:moveTo>
                <a:lnTo>
                  <a:pt x="1320800" y="31750"/>
                </a:lnTo>
                <a:lnTo>
                  <a:pt x="1320800" y="44450"/>
                </a:lnTo>
                <a:lnTo>
                  <a:pt x="1371600" y="44450"/>
                </a:lnTo>
                <a:lnTo>
                  <a:pt x="1384300" y="38100"/>
                </a:lnTo>
                <a:lnTo>
                  <a:pt x="13716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14271" y="2165108"/>
            <a:ext cx="1384300" cy="181460"/>
          </a:xfrm>
          <a:custGeom>
            <a:avLst/>
            <a:gdLst/>
            <a:ahLst/>
            <a:cxnLst/>
            <a:rect l="l" t="t" r="r" b="b"/>
            <a:pathLst>
              <a:path w="13843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384300" h="76200">
                <a:moveTo>
                  <a:pt x="1308099" y="0"/>
                </a:moveTo>
                <a:lnTo>
                  <a:pt x="1308099" y="76200"/>
                </a:lnTo>
                <a:lnTo>
                  <a:pt x="1371599" y="44450"/>
                </a:lnTo>
                <a:lnTo>
                  <a:pt x="1320799" y="44450"/>
                </a:lnTo>
                <a:lnTo>
                  <a:pt x="1320799" y="31750"/>
                </a:lnTo>
                <a:lnTo>
                  <a:pt x="1371599" y="31750"/>
                </a:lnTo>
                <a:lnTo>
                  <a:pt x="1308099" y="0"/>
                </a:lnTo>
                <a:close/>
              </a:path>
              <a:path w="138430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384300" h="76200">
                <a:moveTo>
                  <a:pt x="1308099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308099" y="44450"/>
                </a:lnTo>
                <a:lnTo>
                  <a:pt x="1308099" y="31750"/>
                </a:lnTo>
                <a:close/>
              </a:path>
              <a:path w="1384300" h="76200">
                <a:moveTo>
                  <a:pt x="1371599" y="31750"/>
                </a:moveTo>
                <a:lnTo>
                  <a:pt x="1320799" y="31750"/>
                </a:lnTo>
                <a:lnTo>
                  <a:pt x="1320799" y="44450"/>
                </a:lnTo>
                <a:lnTo>
                  <a:pt x="1371599" y="44450"/>
                </a:lnTo>
                <a:lnTo>
                  <a:pt x="1384299" y="38100"/>
                </a:lnTo>
                <a:lnTo>
                  <a:pt x="1371599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22960" y="2622308"/>
            <a:ext cx="1384300" cy="181460"/>
          </a:xfrm>
          <a:custGeom>
            <a:avLst/>
            <a:gdLst/>
            <a:ahLst/>
            <a:cxnLst/>
            <a:rect l="l" t="t" r="r" b="b"/>
            <a:pathLst>
              <a:path w="13843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384300" h="76200">
                <a:moveTo>
                  <a:pt x="1308100" y="0"/>
                </a:moveTo>
                <a:lnTo>
                  <a:pt x="1308100" y="76200"/>
                </a:lnTo>
                <a:lnTo>
                  <a:pt x="1371600" y="44450"/>
                </a:lnTo>
                <a:lnTo>
                  <a:pt x="1320800" y="44450"/>
                </a:lnTo>
                <a:lnTo>
                  <a:pt x="1320800" y="31750"/>
                </a:lnTo>
                <a:lnTo>
                  <a:pt x="1371600" y="31750"/>
                </a:lnTo>
                <a:lnTo>
                  <a:pt x="1308100" y="0"/>
                </a:lnTo>
                <a:close/>
              </a:path>
              <a:path w="138430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384300" h="76200">
                <a:moveTo>
                  <a:pt x="130810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308100" y="44450"/>
                </a:lnTo>
                <a:lnTo>
                  <a:pt x="1308100" y="31750"/>
                </a:lnTo>
                <a:close/>
              </a:path>
              <a:path w="1384300" h="76200">
                <a:moveTo>
                  <a:pt x="1371600" y="31750"/>
                </a:moveTo>
                <a:lnTo>
                  <a:pt x="1320800" y="31750"/>
                </a:lnTo>
                <a:lnTo>
                  <a:pt x="1320800" y="44450"/>
                </a:lnTo>
                <a:lnTo>
                  <a:pt x="1371600" y="44450"/>
                </a:lnTo>
                <a:lnTo>
                  <a:pt x="1384300" y="38100"/>
                </a:lnTo>
                <a:lnTo>
                  <a:pt x="13716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494" y="3413071"/>
            <a:ext cx="243839" cy="21640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2765" y="3748917"/>
            <a:ext cx="323088" cy="216407"/>
          </a:xfrm>
          <a:prstGeom prst="rect">
            <a:avLst/>
          </a:prstGeom>
        </p:spPr>
      </p:pic>
      <p:sp>
        <p:nvSpPr>
          <p:cNvPr id="16" name="object 2">
            <a:extLst>
              <a:ext uri="{FF2B5EF4-FFF2-40B4-BE49-F238E27FC236}">
                <a16:creationId xmlns:a16="http://schemas.microsoft.com/office/drawing/2014/main" id="{5DD16249-E0A6-0D79-C022-3511D6E678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5"/>
              </a:spcBef>
            </a:pPr>
            <a:r>
              <a:rPr dirty="0"/>
              <a:t>Random</a:t>
            </a:r>
            <a:r>
              <a:rPr spc="-45" dirty="0"/>
              <a:t> </a:t>
            </a:r>
            <a:r>
              <a:rPr spc="-10" dirty="0"/>
              <a:t>experiment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5"/>
              </a:spcBef>
            </a:pPr>
            <a:r>
              <a:rPr dirty="0"/>
              <a:t>Random</a:t>
            </a:r>
            <a:r>
              <a:rPr spc="-45" dirty="0"/>
              <a:t> </a:t>
            </a:r>
            <a:r>
              <a:rPr spc="-10" dirty="0"/>
              <a:t>experiment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923043" y="1457975"/>
            <a:ext cx="10515600" cy="3695884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960"/>
              </a:spcBef>
              <a:buNone/>
            </a:pPr>
            <a:r>
              <a:rPr sz="2800" b="1" spc="-10" dirty="0">
                <a:solidFill>
                  <a:srgbClr val="4471C4"/>
                </a:solidFill>
              </a:rPr>
              <a:t>Partition:</a:t>
            </a:r>
            <a:endParaRPr sz="2800" b="1" dirty="0"/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lang="en-US" dirty="0"/>
              <a:t> 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partition</a:t>
            </a:r>
            <a:r>
              <a:rPr spc="-85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10" dirty="0"/>
              <a:t>collectively</a:t>
            </a:r>
            <a:r>
              <a:rPr spc="-110" dirty="0"/>
              <a:t> </a:t>
            </a:r>
            <a:r>
              <a:rPr spc="-10" dirty="0"/>
              <a:t>exhaustive,</a:t>
            </a:r>
            <a:r>
              <a:rPr dirty="0"/>
              <a:t> and</a:t>
            </a:r>
            <a:r>
              <a:rPr spc="-45" dirty="0"/>
              <a:t> </a:t>
            </a:r>
            <a:r>
              <a:rPr dirty="0"/>
              <a:t>mutually</a:t>
            </a:r>
            <a:r>
              <a:rPr spc="-80" dirty="0"/>
              <a:t> </a:t>
            </a:r>
            <a:r>
              <a:rPr spc="-10" dirty="0"/>
              <a:t>exclusive</a:t>
            </a:r>
            <a:r>
              <a:rPr spc="-40" dirty="0"/>
              <a:t> </a:t>
            </a:r>
            <a:br>
              <a:rPr lang="en-US" spc="-40" dirty="0"/>
            </a:br>
            <a:r>
              <a:rPr lang="en-US" spc="-40" dirty="0"/>
              <a:t>     </a:t>
            </a:r>
            <a:r>
              <a:rPr dirty="0"/>
              <a:t>set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events,</a:t>
            </a:r>
            <a:r>
              <a:rPr spc="-25" dirty="0"/>
              <a:t> </a:t>
            </a:r>
            <a:r>
              <a:rPr spc="-10" dirty="0"/>
              <a:t>i.e.,</a:t>
            </a:r>
          </a:p>
          <a:p>
            <a:pPr marL="2174240" indent="0">
              <a:lnSpc>
                <a:spcPct val="100000"/>
              </a:lnSpc>
              <a:spcBef>
                <a:spcPts val="1989"/>
              </a:spcBef>
              <a:buNone/>
            </a:pPr>
            <a:r>
              <a:rPr lang="en-US" dirty="0"/>
              <a:t>  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a</a:t>
            </a:r>
            <a:r>
              <a:rPr spc="-10" dirty="0"/>
              <a:t> Partition</a:t>
            </a:r>
            <a:r>
              <a:rPr spc="-60" dirty="0"/>
              <a:t> </a:t>
            </a:r>
            <a:r>
              <a:rPr spc="-25" dirty="0"/>
              <a:t>if</a:t>
            </a:r>
          </a:p>
          <a:p>
            <a:pPr marL="12700">
              <a:lnSpc>
                <a:spcPct val="100000"/>
              </a:lnSpc>
              <a:spcBef>
                <a:spcPts val="2450"/>
              </a:spcBef>
            </a:pPr>
            <a:r>
              <a:rPr lang="en-US" b="0" spc="-50" dirty="0">
                <a:latin typeface="Arial MT"/>
                <a:cs typeface="Arial MT"/>
              </a:rPr>
              <a:t> </a:t>
            </a:r>
            <a:endParaRPr b="0" spc="-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55"/>
              </a:spcBef>
            </a:pPr>
            <a:r>
              <a:rPr lang="en-US" spc="-50" dirty="0">
                <a:latin typeface="Arial MT"/>
                <a:cs typeface="Arial MT"/>
              </a:rPr>
              <a:t> </a:t>
            </a:r>
            <a:endParaRPr b="0" spc="-50" dirty="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68545"/>
            <a:ext cx="2743200" cy="340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lang="en-US" spc="-25" dirty="0"/>
              <a:t>28</a:t>
            </a:r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043" y="3302142"/>
            <a:ext cx="2237232" cy="2651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0967" y="4064111"/>
            <a:ext cx="4020311" cy="2590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7039" y="4819984"/>
            <a:ext cx="2855976" cy="3230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42167" y="3076654"/>
            <a:ext cx="231657" cy="24270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424863" y="3164793"/>
            <a:ext cx="3502936" cy="1864407"/>
            <a:chOff x="6991857" y="3428746"/>
            <a:chExt cx="2785110" cy="1330325"/>
          </a:xfrm>
        </p:grpSpPr>
        <p:sp>
          <p:nvSpPr>
            <p:cNvPr id="9" name="object 9"/>
            <p:cNvSpPr/>
            <p:nvPr/>
          </p:nvSpPr>
          <p:spPr>
            <a:xfrm>
              <a:off x="6998207" y="3435096"/>
              <a:ext cx="2771140" cy="1316990"/>
            </a:xfrm>
            <a:custGeom>
              <a:avLst/>
              <a:gdLst/>
              <a:ahLst/>
              <a:cxnLst/>
              <a:rect l="l" t="t" r="r" b="b"/>
              <a:pathLst>
                <a:path w="2771140" h="1316989">
                  <a:moveTo>
                    <a:pt x="2770631" y="0"/>
                  </a:moveTo>
                  <a:lnTo>
                    <a:pt x="0" y="0"/>
                  </a:lnTo>
                  <a:lnTo>
                    <a:pt x="0" y="1316735"/>
                  </a:lnTo>
                  <a:lnTo>
                    <a:pt x="2770631" y="1316735"/>
                  </a:lnTo>
                  <a:lnTo>
                    <a:pt x="27706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98207" y="3435096"/>
              <a:ext cx="2771140" cy="1316990"/>
            </a:xfrm>
            <a:custGeom>
              <a:avLst/>
              <a:gdLst/>
              <a:ahLst/>
              <a:cxnLst/>
              <a:rect l="l" t="t" r="r" b="b"/>
              <a:pathLst>
                <a:path w="2771140" h="1316989">
                  <a:moveTo>
                    <a:pt x="0" y="1316735"/>
                  </a:moveTo>
                  <a:lnTo>
                    <a:pt x="2770631" y="1316735"/>
                  </a:lnTo>
                  <a:lnTo>
                    <a:pt x="2770631" y="0"/>
                  </a:lnTo>
                  <a:lnTo>
                    <a:pt x="0" y="0"/>
                  </a:lnTo>
                  <a:lnTo>
                    <a:pt x="0" y="131673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90231" y="3669792"/>
              <a:ext cx="277368" cy="1920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998207" y="3435096"/>
              <a:ext cx="2772410" cy="1317625"/>
            </a:xfrm>
            <a:custGeom>
              <a:avLst/>
              <a:gdLst/>
              <a:ahLst/>
              <a:cxnLst/>
              <a:rect l="l" t="t" r="r" b="b"/>
              <a:pathLst>
                <a:path w="2772409" h="1317625">
                  <a:moveTo>
                    <a:pt x="1241044" y="0"/>
                  </a:moveTo>
                  <a:lnTo>
                    <a:pt x="0" y="883919"/>
                  </a:lnTo>
                </a:path>
                <a:path w="2772409" h="1317625">
                  <a:moveTo>
                    <a:pt x="393192" y="591311"/>
                  </a:moveTo>
                  <a:lnTo>
                    <a:pt x="1385189" y="1317243"/>
                  </a:lnTo>
                </a:path>
                <a:path w="2772409" h="1317625">
                  <a:moveTo>
                    <a:pt x="1386840" y="1316862"/>
                  </a:moveTo>
                  <a:lnTo>
                    <a:pt x="2772283" y="658367"/>
                  </a:lnTo>
                </a:path>
                <a:path w="2772409" h="1317625">
                  <a:moveTo>
                    <a:pt x="2222627" y="930909"/>
                  </a:moveTo>
                  <a:lnTo>
                    <a:pt x="1386840" y="0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75647" y="4501896"/>
              <a:ext cx="286511" cy="1920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57287" y="4407408"/>
              <a:ext cx="280416" cy="1889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80247" y="3904488"/>
              <a:ext cx="283464" cy="1920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37903" y="3660648"/>
              <a:ext cx="280416" cy="1920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1340</Words>
  <Application>Microsoft Office PowerPoint</Application>
  <PresentationFormat>Widescreen</PresentationFormat>
  <Paragraphs>280</Paragraphs>
  <Slides>28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Aptos</vt:lpstr>
      <vt:lpstr>Aptos Display</vt:lpstr>
      <vt:lpstr>Arial</vt:lpstr>
      <vt:lpstr>Arial MT</vt:lpstr>
      <vt:lpstr>Calibri</vt:lpstr>
      <vt:lpstr>Inter</vt:lpstr>
      <vt:lpstr>Times New Roman</vt:lpstr>
      <vt:lpstr>Wingdings</vt:lpstr>
      <vt:lpstr>Office Theme</vt:lpstr>
      <vt:lpstr>Review of Set Theory</vt:lpstr>
      <vt:lpstr>Review of Set Theory</vt:lpstr>
      <vt:lpstr>Review of Set Theory</vt:lpstr>
      <vt:lpstr>Review of Set Theory</vt:lpstr>
      <vt:lpstr>Review of Set Theory</vt:lpstr>
      <vt:lpstr>PowerPoint Presentation</vt:lpstr>
      <vt:lpstr>PowerPoint Presentation</vt:lpstr>
      <vt:lpstr>Set Operations</vt:lpstr>
      <vt:lpstr>Set Operations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Set Operations</vt:lpstr>
      <vt:lpstr>Functions</vt:lpstr>
      <vt:lpstr>Functions</vt:lpstr>
      <vt:lpstr>Countable and Uncountable Sets</vt:lpstr>
      <vt:lpstr>Countable and Uncountable Sets</vt:lpstr>
      <vt:lpstr>Countable and Uncountable Sets</vt:lpstr>
      <vt:lpstr>Countable and Uncountable Sets</vt:lpstr>
      <vt:lpstr>Countable and Uncountable Sets</vt:lpstr>
      <vt:lpstr>Random experiment</vt:lpstr>
      <vt:lpstr>Random experiment</vt:lpstr>
      <vt:lpstr>Random experiment</vt:lpstr>
      <vt:lpstr>Random experiment</vt:lpstr>
      <vt:lpstr>Random experiment</vt:lpstr>
      <vt:lpstr>Random experiment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Bradford Johnson</dc:creator>
  <cp:lastModifiedBy>Richard Bradford Johnson</cp:lastModifiedBy>
  <cp:revision>107</cp:revision>
  <dcterms:created xsi:type="dcterms:W3CDTF">2025-02-26T17:11:57Z</dcterms:created>
  <dcterms:modified xsi:type="dcterms:W3CDTF">2025-03-04T20:42:27Z</dcterms:modified>
</cp:coreProperties>
</file>